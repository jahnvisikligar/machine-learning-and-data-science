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nter SemiBold"/>
      <p:regular r:id="rId13"/>
      <p:bold r:id="rId14"/>
      <p:italic r:id="rId15"/>
      <p:boldItalic r:id="rId16"/>
    </p:embeddedFont>
    <p:embeddedFont>
      <p:font typeface="Inter"/>
      <p:bold r:id="rId17"/>
      <p:boldItalic r:id="rId18"/>
    </p:embeddedFont>
    <p:embeddedFont>
      <p:font typeface="Inter ExtraBold"/>
      <p:bold r:id="rId19"/>
      <p:boldItalic r:id="rId20"/>
    </p:embeddedFont>
    <p:embeddedFont>
      <p:font typeface="Inter Medium"/>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ExtraBold-boldItalic.fntdata"/><Relationship Id="rId11" Type="http://schemas.openxmlformats.org/officeDocument/2006/relationships/slide" Target="slides/slide6.xml"/><Relationship Id="rId22" Type="http://schemas.openxmlformats.org/officeDocument/2006/relationships/font" Target="fonts/InterMedium-bold.fntdata"/><Relationship Id="rId10" Type="http://schemas.openxmlformats.org/officeDocument/2006/relationships/slide" Target="slides/slide5.xml"/><Relationship Id="rId21" Type="http://schemas.openxmlformats.org/officeDocument/2006/relationships/font" Target="fonts/InterMedium-regular.fntdata"/><Relationship Id="rId13" Type="http://schemas.openxmlformats.org/officeDocument/2006/relationships/font" Target="fonts/InterSemiBold-regular.fntdata"/><Relationship Id="rId24" Type="http://schemas.openxmlformats.org/officeDocument/2006/relationships/font" Target="fonts/InterMedium-boldItalic.fntdata"/><Relationship Id="rId12" Type="http://schemas.openxmlformats.org/officeDocument/2006/relationships/slide" Target="slides/slide7.xml"/><Relationship Id="rId23" Type="http://schemas.openxmlformats.org/officeDocument/2006/relationships/font" Target="fonts/Inter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italic.fntdata"/><Relationship Id="rId14" Type="http://schemas.openxmlformats.org/officeDocument/2006/relationships/font" Target="fonts/InterSemiBold-bold.fntdata"/><Relationship Id="rId17" Type="http://schemas.openxmlformats.org/officeDocument/2006/relationships/font" Target="fonts/Inter-bold.fntdata"/><Relationship Id="rId16" Type="http://schemas.openxmlformats.org/officeDocument/2006/relationships/font" Target="fonts/InterSemiBold-boldItalic.fntdata"/><Relationship Id="rId5" Type="http://schemas.openxmlformats.org/officeDocument/2006/relationships/notesMaster" Target="notesMasters/notesMaster1.xml"/><Relationship Id="rId19" Type="http://schemas.openxmlformats.org/officeDocument/2006/relationships/font" Target="fonts/InterExtraBold-bold.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9411c0aaf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9411c0aaf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9411c0aaf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9411c0aaf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9411c0aaf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9411c0aaf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9411c0aaf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9411c0aaf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9411c0aaf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9411c0aaf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9411c0aaf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9411c0aaf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9411c0aaf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9411c0aaf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411c0aaf_14_0)">
  <p:cSld name="Generated (g3f9411c0aaf_1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 name="Google Shape;56;p14"/>
          <p:cNvPicPr preferRelativeResize="0"/>
          <p:nvPr/>
        </p:nvPicPr>
        <p:blipFill rotWithShape="1">
          <a:blip r:embed="rId3">
            <a:alphaModFix/>
          </a:blip>
          <a:srcRect b="0" l="0" r="0" t="0"/>
          <a:stretch/>
        </p:blipFill>
        <p:spPr>
          <a:xfrm>
            <a:off x="9525" y="9525"/>
            <a:ext cx="8934600" cy="5048400"/>
          </a:xfrm>
          <a:prstGeom prst="rect">
            <a:avLst/>
          </a:prstGeom>
          <a:noFill/>
          <a:ln>
            <a:noFill/>
          </a:ln>
        </p:spPr>
      </p:pic>
      <p:grpSp>
        <p:nvGrpSpPr>
          <p:cNvPr id="57" name="Google Shape;57;p14"/>
          <p:cNvGrpSpPr/>
          <p:nvPr/>
        </p:nvGrpSpPr>
        <p:grpSpPr>
          <a:xfrm>
            <a:off x="457200" y="457200"/>
            <a:ext cx="304800" cy="228600"/>
            <a:chOff x="0" y="0"/>
            <a:chExt cx="304800" cy="228600"/>
          </a:xfrm>
        </p:grpSpPr>
        <p:sp>
          <p:nvSpPr>
            <p:cNvPr id="58" name="Google Shape;58;p14"/>
            <p:cNvSpPr/>
            <p:nvPr/>
          </p:nvSpPr>
          <p:spPr>
            <a:xfrm>
              <a:off x="0" y="76200"/>
              <a:ext cx="76200" cy="152400"/>
            </a:xfrm>
            <a:prstGeom prst="rect">
              <a:avLst/>
            </a:pr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 name="Google Shape;59;p14"/>
            <p:cNvSpPr/>
            <p:nvPr/>
          </p:nvSpPr>
          <p:spPr>
            <a:xfrm>
              <a:off x="114300" y="0"/>
              <a:ext cx="76200" cy="228600"/>
            </a:xfrm>
            <a:prstGeom prst="rect">
              <a:avLst/>
            </a:pr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228600" y="114300"/>
              <a:ext cx="76200" cy="1143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p:nvPr/>
          </p:nvSpPr>
          <p:spPr>
            <a:xfrm>
              <a:off x="228600" y="0"/>
              <a:ext cx="76200" cy="76200"/>
            </a:xfrm>
            <a:prstGeom prst="ellipse">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2" name="Google Shape;62;p14"/>
          <p:cNvGrpSpPr/>
          <p:nvPr/>
        </p:nvGrpSpPr>
        <p:grpSpPr>
          <a:xfrm>
            <a:off x="457200" y="1333500"/>
            <a:ext cx="8229600" cy="2952750"/>
            <a:chOff x="0" y="0"/>
            <a:chExt cx="8229600" cy="2952750"/>
          </a:xfrm>
        </p:grpSpPr>
        <p:sp>
          <p:nvSpPr>
            <p:cNvPr id="63" name="Google Shape;63;p14"/>
            <p:cNvSpPr txBox="1"/>
            <p:nvPr/>
          </p:nvSpPr>
          <p:spPr>
            <a:xfrm>
              <a:off x="0" y="0"/>
              <a:ext cx="82296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3600">
                  <a:solidFill>
                    <a:srgbClr val="0B192C"/>
                  </a:solidFill>
                  <a:latin typeface="Inter ExtraBold"/>
                  <a:ea typeface="Inter ExtraBold"/>
                  <a:cs typeface="Inter ExtraBold"/>
                  <a:sym typeface="Inter ExtraBold"/>
                </a:rPr>
                <a:t>ATM Dispense Forecasting</a:t>
              </a:r>
              <a:endParaRPr b="0" sz="3600">
                <a:solidFill>
                  <a:srgbClr val="0B192C"/>
                </a:solidFill>
                <a:latin typeface="Inter ExtraBold"/>
                <a:ea typeface="Inter ExtraBold"/>
                <a:cs typeface="Inter ExtraBold"/>
                <a:sym typeface="Inter ExtraBold"/>
              </a:endParaRPr>
            </a:p>
            <a:p>
              <a:pPr indent="0" lvl="0" marL="0" rtl="0" algn="l">
                <a:spcBef>
                  <a:spcPts val="600"/>
                </a:spcBef>
                <a:spcAft>
                  <a:spcPts val="0"/>
                </a:spcAft>
                <a:buNone/>
              </a:pPr>
              <a:r>
                <a:rPr b="0" lang="en" sz="3600">
                  <a:solidFill>
                    <a:srgbClr val="0B192C"/>
                  </a:solidFill>
                  <a:latin typeface="Inter ExtraBold"/>
                  <a:ea typeface="Inter ExtraBold"/>
                  <a:cs typeface="Inter ExtraBold"/>
                  <a:sym typeface="Inter ExtraBold"/>
                </a:rPr>
                <a:t>Model Performance &amp; Evaluation</a:t>
              </a:r>
              <a:endParaRPr b="0" sz="3600">
                <a:solidFill>
                  <a:srgbClr val="0B192C"/>
                </a:solidFill>
                <a:latin typeface="Inter ExtraBold"/>
                <a:ea typeface="Inter ExtraBold"/>
                <a:cs typeface="Inter ExtraBold"/>
                <a:sym typeface="Inter ExtraBold"/>
              </a:endParaRPr>
            </a:p>
          </p:txBody>
        </p:sp>
        <p:sp>
          <p:nvSpPr>
            <p:cNvPr id="64" name="Google Shape;64;p14"/>
            <p:cNvSpPr/>
            <p:nvPr/>
          </p:nvSpPr>
          <p:spPr>
            <a:xfrm>
              <a:off x="0" y="1524000"/>
              <a:ext cx="762000" cy="381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txBox="1"/>
            <p:nvPr/>
          </p:nvSpPr>
          <p:spPr>
            <a:xfrm>
              <a:off x="0" y="1828800"/>
              <a:ext cx="82296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800">
                  <a:solidFill>
                    <a:srgbClr val="1E3E62"/>
                  </a:solidFill>
                  <a:latin typeface="Inter Medium"/>
                  <a:ea typeface="Inter Medium"/>
                  <a:cs typeface="Inter Medium"/>
                  <a:sym typeface="Inter Medium"/>
                </a:rPr>
                <a:t>Optimizing Cash Management with XGBoost</a:t>
              </a:r>
              <a:endParaRPr b="0" sz="1800">
                <a:solidFill>
                  <a:srgbClr val="1E3E62"/>
                </a:solidFill>
                <a:latin typeface="Inter Medium"/>
                <a:ea typeface="Inter Medium"/>
                <a:cs typeface="Inter Medium"/>
                <a:sym typeface="Inter Medium"/>
              </a:endParaRPr>
            </a:p>
          </p:txBody>
        </p:sp>
        <p:sp>
          <p:nvSpPr>
            <p:cNvPr id="66" name="Google Shape;66;p14"/>
            <p:cNvSpPr txBox="1"/>
            <p:nvPr/>
          </p:nvSpPr>
          <p:spPr>
            <a:xfrm>
              <a:off x="0" y="2571750"/>
              <a:ext cx="82296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25">
                  <a:solidFill>
                    <a:srgbClr val="1E3E62"/>
                  </a:solidFill>
                  <a:latin typeface="Inter SemiBold"/>
                  <a:ea typeface="Inter SemiBold"/>
                  <a:cs typeface="Inter SemiBold"/>
                  <a:sym typeface="Inter SemiBold"/>
                </a:rPr>
                <a:t>P</a:t>
              </a:r>
              <a:r>
                <a:rPr b="0" lang="en" sz="1125">
                  <a:solidFill>
                    <a:srgbClr val="1E3E62"/>
                  </a:solidFill>
                  <a:latin typeface="Inter SemiBold"/>
                  <a:ea typeface="Inter SemiBold"/>
                  <a:cs typeface="Inter SemiBold"/>
                  <a:sym typeface="Inter SemiBold"/>
                </a:rPr>
                <a:t>RESENTER: </a:t>
              </a:r>
              <a:r>
                <a:rPr b="0" lang="en" sz="1125">
                  <a:solidFill>
                    <a:srgbClr val="0B192C"/>
                  </a:solidFill>
                  <a:latin typeface="Inter ExtraBold"/>
                  <a:ea typeface="Inter ExtraBold"/>
                  <a:cs typeface="Inter ExtraBold"/>
                  <a:sym typeface="Inter ExtraBold"/>
                </a:rPr>
                <a:t>Jahnvi Sikligar</a:t>
              </a:r>
              <a:endParaRPr b="0" sz="1125">
                <a:solidFill>
                  <a:srgbClr val="1E3E62"/>
                </a:solidFill>
                <a:latin typeface="Inter SemiBold"/>
                <a:ea typeface="Inter SemiBold"/>
                <a:cs typeface="Inter SemiBold"/>
                <a:sym typeface="Inter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15"/>
          <p:cNvGrpSpPr/>
          <p:nvPr/>
        </p:nvGrpSpPr>
        <p:grpSpPr>
          <a:xfrm>
            <a:off x="0" y="0"/>
            <a:ext cx="9144000" cy="5143500"/>
            <a:chOff x="0" y="0"/>
            <a:chExt cx="9144000" cy="5143500"/>
          </a:xfrm>
        </p:grpSpPr>
        <p:sp>
          <p:nvSpPr>
            <p:cNvPr id="72" name="Google Shape;72;p1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3" name="Google Shape;73;p15"/>
            <p:cNvPicPr preferRelativeResize="0"/>
            <p:nvPr/>
          </p:nvPicPr>
          <p:blipFill rotWithShape="1">
            <a:blip r:embed="rId3">
              <a:alphaModFix/>
            </a:blip>
            <a:srcRect b="0" l="0" r="0" t="0"/>
            <a:stretch/>
          </p:blipFill>
          <p:spPr>
            <a:xfrm>
              <a:off x="4763" y="4763"/>
              <a:ext cx="8943900" cy="5057700"/>
            </a:xfrm>
            <a:prstGeom prst="rect">
              <a:avLst/>
            </a:prstGeom>
            <a:noFill/>
            <a:ln>
              <a:noFill/>
            </a:ln>
          </p:spPr>
        </p:pic>
        <p:grpSp>
          <p:nvGrpSpPr>
            <p:cNvPr id="74" name="Google Shape;74;p15"/>
            <p:cNvGrpSpPr/>
            <p:nvPr/>
          </p:nvGrpSpPr>
          <p:grpSpPr>
            <a:xfrm>
              <a:off x="8382000" y="457200"/>
              <a:ext cx="304800" cy="228600"/>
              <a:chOff x="0" y="0"/>
              <a:chExt cx="304800" cy="228600"/>
            </a:xfrm>
          </p:grpSpPr>
          <p:sp>
            <p:nvSpPr>
              <p:cNvPr id="75" name="Google Shape;75;p15"/>
              <p:cNvSpPr/>
              <p:nvPr/>
            </p:nvSpPr>
            <p:spPr>
              <a:xfrm>
                <a:off x="0" y="76200"/>
                <a:ext cx="76200" cy="152400"/>
              </a:xfrm>
              <a:prstGeom prst="rect">
                <a:avLst/>
              </a:pr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5"/>
              <p:cNvSpPr/>
              <p:nvPr/>
            </p:nvSpPr>
            <p:spPr>
              <a:xfrm>
                <a:off x="114300" y="0"/>
                <a:ext cx="76200" cy="228600"/>
              </a:xfrm>
              <a:prstGeom prst="rect">
                <a:avLst/>
              </a:pr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5"/>
              <p:cNvSpPr/>
              <p:nvPr/>
            </p:nvSpPr>
            <p:spPr>
              <a:xfrm>
                <a:off x="228600" y="114300"/>
                <a:ext cx="76200" cy="1143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p:nvPr/>
            </p:nvSpPr>
            <p:spPr>
              <a:xfrm>
                <a:off x="228600" y="0"/>
                <a:ext cx="76200" cy="76200"/>
              </a:xfrm>
              <a:prstGeom prst="ellipse">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79" name="Google Shape;79;p15"/>
          <p:cNvGrpSpPr/>
          <p:nvPr/>
        </p:nvGrpSpPr>
        <p:grpSpPr>
          <a:xfrm>
            <a:off x="457200" y="457200"/>
            <a:ext cx="8229600" cy="695727"/>
            <a:chOff x="0" y="0"/>
            <a:chExt cx="8229600" cy="1133475"/>
          </a:xfrm>
        </p:grpSpPr>
        <p:sp>
          <p:nvSpPr>
            <p:cNvPr id="80" name="Google Shape;80;p15"/>
            <p:cNvSpPr txBox="1"/>
            <p:nvPr/>
          </p:nvSpPr>
          <p:spPr>
            <a:xfrm>
              <a:off x="0" y="0"/>
              <a:ext cx="7620000" cy="81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2400"/>
                </a:spcBef>
                <a:spcAft>
                  <a:spcPts val="600"/>
                </a:spcAft>
                <a:buNone/>
              </a:pPr>
              <a:r>
                <a:rPr b="1" lang="en" sz="2300">
                  <a:solidFill>
                    <a:schemeClr val="dk1"/>
                  </a:solidFill>
                </a:rPr>
                <a:t>Model Training and Evaluation Overview</a:t>
              </a:r>
              <a:endParaRPr b="1" sz="2400">
                <a:solidFill>
                  <a:srgbClr val="0B192C"/>
                </a:solidFill>
                <a:latin typeface="Inter"/>
                <a:ea typeface="Inter"/>
                <a:cs typeface="Inter"/>
                <a:sym typeface="Inter"/>
              </a:endParaRPr>
            </a:p>
          </p:txBody>
        </p:sp>
        <p:grpSp>
          <p:nvGrpSpPr>
            <p:cNvPr id="81" name="Google Shape;81;p15"/>
            <p:cNvGrpSpPr/>
            <p:nvPr/>
          </p:nvGrpSpPr>
          <p:grpSpPr>
            <a:xfrm>
              <a:off x="0" y="1095375"/>
              <a:ext cx="8229600" cy="38100"/>
              <a:chOff x="0" y="0"/>
              <a:chExt cx="8229600" cy="38100"/>
            </a:xfrm>
          </p:grpSpPr>
          <p:sp>
            <p:nvSpPr>
              <p:cNvPr id="82" name="Google Shape;82;p15"/>
              <p:cNvSpPr/>
              <p:nvPr/>
            </p:nvSpPr>
            <p:spPr>
              <a:xfrm>
                <a:off x="0" y="0"/>
                <a:ext cx="571500" cy="381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5"/>
              <p:cNvSpPr/>
              <p:nvPr/>
            </p:nvSpPr>
            <p:spPr>
              <a:xfrm>
                <a:off x="571500" y="14288"/>
                <a:ext cx="76581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84" name="Google Shape;84;p15"/>
          <p:cNvSpPr txBox="1"/>
          <p:nvPr/>
        </p:nvSpPr>
        <p:spPr>
          <a:xfrm>
            <a:off x="457200" y="1370100"/>
            <a:ext cx="8229600" cy="3511500"/>
          </a:xfrm>
          <a:prstGeom prst="rect">
            <a:avLst/>
          </a:prstGeom>
          <a:noFill/>
          <a:ln>
            <a:noFill/>
          </a:ln>
        </p:spPr>
        <p:txBody>
          <a:bodyPr anchorCtr="0" anchor="t" bIns="0" lIns="228600" spcFirstLastPara="1" rIns="0" wrap="square" tIns="0">
            <a:noAutofit/>
          </a:bodyPr>
          <a:lstStyle/>
          <a:p>
            <a:pPr indent="0" lvl="0" marL="0" rtl="0" algn="l">
              <a:spcBef>
                <a:spcPts val="1200"/>
              </a:spcBef>
              <a:spcAft>
                <a:spcPts val="0"/>
              </a:spcAft>
              <a:buNone/>
            </a:pPr>
            <a:r>
              <a:rPr b="1" lang="en" sz="1350">
                <a:solidFill>
                  <a:srgbClr val="1E3E62"/>
                </a:solidFill>
                <a:latin typeface="Inter"/>
                <a:ea typeface="Inter"/>
                <a:cs typeface="Inter"/>
                <a:sym typeface="Inter"/>
              </a:rPr>
              <a:t>Model Architecture</a:t>
            </a:r>
            <a:endParaRPr b="1" sz="1350">
              <a:solidFill>
                <a:srgbClr val="1E3E62"/>
              </a:solidFill>
              <a:latin typeface="Inter"/>
              <a:ea typeface="Inter"/>
              <a:cs typeface="Inter"/>
              <a:sym typeface="Inter"/>
            </a:endParaRPr>
          </a:p>
          <a:p>
            <a:pPr indent="-314325" lvl="0" marL="457200" rtl="0" algn="l">
              <a:spcBef>
                <a:spcPts val="1200"/>
              </a:spcBef>
              <a:spcAft>
                <a:spcPts val="0"/>
              </a:spcAft>
              <a:buClr>
                <a:srgbClr val="1E3E62"/>
              </a:buClr>
              <a:buSzPts val="1350"/>
              <a:buFont typeface="Inter"/>
              <a:buChar char="●"/>
            </a:pPr>
            <a:r>
              <a:rPr lang="en" sz="1350">
                <a:solidFill>
                  <a:srgbClr val="1E3E62"/>
                </a:solidFill>
                <a:latin typeface="Inter"/>
                <a:ea typeface="Inter"/>
                <a:cs typeface="Inter"/>
                <a:sym typeface="Inter"/>
              </a:rPr>
              <a:t>Model: XGBoost Regressor</a:t>
            </a:r>
            <a:endParaRPr sz="1350">
              <a:solidFill>
                <a:srgbClr val="1E3E62"/>
              </a:solidFill>
              <a:latin typeface="Inter"/>
              <a:ea typeface="Inter"/>
              <a:cs typeface="Inter"/>
              <a:sym typeface="Inter"/>
            </a:endParaRPr>
          </a:p>
          <a:p>
            <a:pPr indent="-314325" lvl="0" marL="457200" rtl="0" algn="l">
              <a:spcBef>
                <a:spcPts val="0"/>
              </a:spcBef>
              <a:spcAft>
                <a:spcPts val="0"/>
              </a:spcAft>
              <a:buClr>
                <a:srgbClr val="1E3E62"/>
              </a:buClr>
              <a:buSzPts val="1350"/>
              <a:buFont typeface="Inter"/>
              <a:buChar char="●"/>
            </a:pPr>
            <a:r>
              <a:rPr lang="en" sz="1350">
                <a:solidFill>
                  <a:srgbClr val="1E3E62"/>
                </a:solidFill>
                <a:latin typeface="Inter"/>
                <a:ea typeface="Inter"/>
                <a:cs typeface="Inter"/>
                <a:sym typeface="Inter"/>
              </a:rPr>
              <a:t>Key Parameters: n_estimators=300, learning_rate=0.05, max_depth=6</a:t>
            </a:r>
            <a:endParaRPr sz="1350">
              <a:solidFill>
                <a:srgbClr val="1E3E62"/>
              </a:solidFill>
              <a:latin typeface="Inter"/>
              <a:ea typeface="Inter"/>
              <a:cs typeface="Inter"/>
              <a:sym typeface="Inter"/>
            </a:endParaRPr>
          </a:p>
          <a:p>
            <a:pPr indent="-314325" lvl="0" marL="457200" rtl="0" algn="l">
              <a:spcBef>
                <a:spcPts val="0"/>
              </a:spcBef>
              <a:spcAft>
                <a:spcPts val="0"/>
              </a:spcAft>
              <a:buClr>
                <a:srgbClr val="1E3E62"/>
              </a:buClr>
              <a:buSzPts val="1350"/>
              <a:buFont typeface="Inter"/>
              <a:buChar char="●"/>
            </a:pPr>
            <a:r>
              <a:rPr lang="en" sz="1350">
                <a:solidFill>
                  <a:srgbClr val="1E3E62"/>
                </a:solidFill>
                <a:latin typeface="Inter"/>
                <a:ea typeface="Inter"/>
                <a:cs typeface="Inter"/>
                <a:sym typeface="Inter"/>
              </a:rPr>
              <a:t>Justification: Superior handling of tabular data and complex non-linear relationships.</a:t>
            </a:r>
            <a:endParaRPr sz="1350">
              <a:solidFill>
                <a:srgbClr val="1E3E62"/>
              </a:solidFill>
              <a:latin typeface="Inter"/>
              <a:ea typeface="Inter"/>
              <a:cs typeface="Inter"/>
              <a:sym typeface="Inter"/>
            </a:endParaRPr>
          </a:p>
          <a:p>
            <a:pPr indent="0" lvl="0" marL="0" rtl="0" algn="l">
              <a:spcBef>
                <a:spcPts val="1200"/>
              </a:spcBef>
              <a:spcAft>
                <a:spcPts val="0"/>
              </a:spcAft>
              <a:buNone/>
            </a:pPr>
            <a:r>
              <a:rPr b="1" lang="en" sz="1350">
                <a:solidFill>
                  <a:srgbClr val="1E3E62"/>
                </a:solidFill>
                <a:latin typeface="Inter"/>
                <a:ea typeface="Inter"/>
                <a:cs typeface="Inter"/>
                <a:sym typeface="Inter"/>
              </a:rPr>
              <a:t>Validation Strategy</a:t>
            </a:r>
            <a:endParaRPr b="1" sz="1350">
              <a:solidFill>
                <a:srgbClr val="1E3E62"/>
              </a:solidFill>
              <a:latin typeface="Inter"/>
              <a:ea typeface="Inter"/>
              <a:cs typeface="Inter"/>
              <a:sym typeface="Inter"/>
            </a:endParaRPr>
          </a:p>
          <a:p>
            <a:pPr indent="-314325" lvl="0" marL="457200" rtl="0" algn="l">
              <a:spcBef>
                <a:spcPts val="1200"/>
              </a:spcBef>
              <a:spcAft>
                <a:spcPts val="0"/>
              </a:spcAft>
              <a:buClr>
                <a:srgbClr val="1E3E62"/>
              </a:buClr>
              <a:buSzPts val="1350"/>
              <a:buFont typeface="Inter"/>
              <a:buChar char="●"/>
            </a:pPr>
            <a:r>
              <a:rPr lang="en" sz="1350">
                <a:solidFill>
                  <a:srgbClr val="1E3E62"/>
                </a:solidFill>
                <a:latin typeface="Inter"/>
                <a:ea typeface="Inter"/>
                <a:cs typeface="Inter"/>
                <a:sym typeface="Inter"/>
              </a:rPr>
              <a:t>Method: Time-based split (cutoff: 2023-02-15)</a:t>
            </a:r>
            <a:endParaRPr sz="1350">
              <a:solidFill>
                <a:srgbClr val="1E3E62"/>
              </a:solidFill>
              <a:latin typeface="Inter"/>
              <a:ea typeface="Inter"/>
              <a:cs typeface="Inter"/>
              <a:sym typeface="Inter"/>
            </a:endParaRPr>
          </a:p>
          <a:p>
            <a:pPr indent="-314325" lvl="0" marL="457200" rtl="0" algn="l">
              <a:spcBef>
                <a:spcPts val="0"/>
              </a:spcBef>
              <a:spcAft>
                <a:spcPts val="0"/>
              </a:spcAft>
              <a:buClr>
                <a:srgbClr val="1E3E62"/>
              </a:buClr>
              <a:buSzPts val="1350"/>
              <a:buFont typeface="Inter"/>
              <a:buChar char="●"/>
            </a:pPr>
            <a:r>
              <a:rPr lang="en" sz="1350">
                <a:solidFill>
                  <a:srgbClr val="1E3E62"/>
                </a:solidFill>
                <a:latin typeface="Inter"/>
                <a:ea typeface="Inter"/>
                <a:cs typeface="Inter"/>
                <a:sym typeface="Inter"/>
              </a:rPr>
              <a:t>Rationale: Mimics real-world forecasting by testing on unseen future data.</a:t>
            </a:r>
            <a:endParaRPr sz="1350">
              <a:solidFill>
                <a:srgbClr val="1E3E62"/>
              </a:solidFill>
              <a:latin typeface="Inter"/>
              <a:ea typeface="Inter"/>
              <a:cs typeface="Inter"/>
              <a:sym typeface="Inter"/>
            </a:endParaRPr>
          </a:p>
          <a:p>
            <a:pPr indent="0" lvl="0" marL="0" rtl="0" algn="l">
              <a:spcBef>
                <a:spcPts val="1200"/>
              </a:spcBef>
              <a:spcAft>
                <a:spcPts val="0"/>
              </a:spcAft>
              <a:buNone/>
            </a:pPr>
            <a:r>
              <a:rPr b="1" lang="en" sz="1350">
                <a:solidFill>
                  <a:srgbClr val="1E3E62"/>
                </a:solidFill>
                <a:latin typeface="Inter"/>
                <a:ea typeface="Inter"/>
                <a:cs typeface="Inter"/>
                <a:sym typeface="Inter"/>
              </a:rPr>
              <a:t>Performance Metrics</a:t>
            </a:r>
            <a:endParaRPr b="1" sz="1350">
              <a:solidFill>
                <a:srgbClr val="1E3E62"/>
              </a:solidFill>
              <a:latin typeface="Inter"/>
              <a:ea typeface="Inter"/>
              <a:cs typeface="Inter"/>
              <a:sym typeface="Inter"/>
            </a:endParaRPr>
          </a:p>
          <a:p>
            <a:pPr indent="-314325" lvl="0" marL="457200" rtl="0" algn="l">
              <a:spcBef>
                <a:spcPts val="1200"/>
              </a:spcBef>
              <a:spcAft>
                <a:spcPts val="0"/>
              </a:spcAft>
              <a:buClr>
                <a:srgbClr val="1E3E62"/>
              </a:buClr>
              <a:buSzPts val="1350"/>
              <a:buFont typeface="Inter"/>
              <a:buChar char="●"/>
            </a:pPr>
            <a:r>
              <a:rPr lang="en" sz="1350">
                <a:solidFill>
                  <a:srgbClr val="1E3E62"/>
                </a:solidFill>
                <a:latin typeface="Inter"/>
                <a:ea typeface="Inter"/>
                <a:cs typeface="Inter"/>
                <a:sym typeface="Inter"/>
              </a:rPr>
              <a:t>MAE (Mean Absolute Error): Measures average error magnitude; robust to outliers; highly interpretable.</a:t>
            </a:r>
            <a:endParaRPr sz="1350">
              <a:solidFill>
                <a:srgbClr val="1E3E62"/>
              </a:solidFill>
              <a:latin typeface="Inter"/>
              <a:ea typeface="Inter"/>
              <a:cs typeface="Inter"/>
              <a:sym typeface="Inter"/>
            </a:endParaRPr>
          </a:p>
          <a:p>
            <a:pPr indent="-314325" lvl="0" marL="457200" rtl="0" algn="l">
              <a:spcBef>
                <a:spcPts val="0"/>
              </a:spcBef>
              <a:spcAft>
                <a:spcPts val="0"/>
              </a:spcAft>
              <a:buClr>
                <a:srgbClr val="1E3E62"/>
              </a:buClr>
              <a:buSzPts val="1350"/>
              <a:buFont typeface="Inter"/>
              <a:buChar char="●"/>
            </a:pPr>
            <a:r>
              <a:rPr lang="en" sz="1350">
                <a:solidFill>
                  <a:srgbClr val="1E3E62"/>
                </a:solidFill>
                <a:latin typeface="Inter"/>
                <a:ea typeface="Inter"/>
                <a:cs typeface="Inter"/>
                <a:sym typeface="Inter"/>
              </a:rPr>
              <a:t>RMSE (Root Mean Squared Error): Penalizes larger errors; critical when significant deviations must be avoided.</a:t>
            </a:r>
            <a:endParaRPr sz="1350">
              <a:solidFill>
                <a:srgbClr val="1E3E62"/>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90" name="Google Shape;90;p16"/>
          <p:cNvPicPr preferRelativeResize="0"/>
          <p:nvPr/>
        </p:nvPicPr>
        <p:blipFill rotWithShape="1">
          <a:blip r:embed="rId4">
            <a:alphaModFix/>
          </a:blip>
          <a:srcRect b="0" l="0" r="0" t="0"/>
          <a:stretch/>
        </p:blipFill>
        <p:spPr>
          <a:xfrm>
            <a:off x="9525" y="9525"/>
            <a:ext cx="8934600" cy="5048400"/>
          </a:xfrm>
          <a:prstGeom prst="rect">
            <a:avLst/>
          </a:prstGeom>
          <a:noFill/>
          <a:ln>
            <a:noFill/>
          </a:ln>
        </p:spPr>
      </p:pic>
      <p:grpSp>
        <p:nvGrpSpPr>
          <p:cNvPr id="91" name="Google Shape;91;p16"/>
          <p:cNvGrpSpPr/>
          <p:nvPr/>
        </p:nvGrpSpPr>
        <p:grpSpPr>
          <a:xfrm>
            <a:off x="8382000" y="457200"/>
            <a:ext cx="304800" cy="228600"/>
            <a:chOff x="0" y="0"/>
            <a:chExt cx="304800" cy="228600"/>
          </a:xfrm>
        </p:grpSpPr>
        <p:sp>
          <p:nvSpPr>
            <p:cNvPr id="92" name="Google Shape;92;p16"/>
            <p:cNvSpPr/>
            <p:nvPr/>
          </p:nvSpPr>
          <p:spPr>
            <a:xfrm>
              <a:off x="0" y="76200"/>
              <a:ext cx="76200" cy="152400"/>
            </a:xfrm>
            <a:prstGeom prst="rect">
              <a:avLst/>
            </a:pr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6"/>
            <p:cNvSpPr/>
            <p:nvPr/>
          </p:nvSpPr>
          <p:spPr>
            <a:xfrm>
              <a:off x="114300" y="0"/>
              <a:ext cx="76200" cy="228600"/>
            </a:xfrm>
            <a:prstGeom prst="rect">
              <a:avLst/>
            </a:pr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6"/>
            <p:cNvSpPr/>
            <p:nvPr/>
          </p:nvSpPr>
          <p:spPr>
            <a:xfrm>
              <a:off x="228600" y="114300"/>
              <a:ext cx="76200" cy="1143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6"/>
            <p:cNvSpPr/>
            <p:nvPr/>
          </p:nvSpPr>
          <p:spPr>
            <a:xfrm>
              <a:off x="228600" y="0"/>
              <a:ext cx="76200" cy="76200"/>
            </a:xfrm>
            <a:prstGeom prst="ellipse">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6" name="Google Shape;96;p16"/>
          <p:cNvGrpSpPr/>
          <p:nvPr/>
        </p:nvGrpSpPr>
        <p:grpSpPr>
          <a:xfrm>
            <a:off x="457200" y="457233"/>
            <a:ext cx="8229600" cy="628426"/>
            <a:chOff x="457200" y="457225"/>
            <a:chExt cx="8229600" cy="1047725"/>
          </a:xfrm>
        </p:grpSpPr>
        <p:sp>
          <p:nvSpPr>
            <p:cNvPr id="97" name="Google Shape;97;p16"/>
            <p:cNvSpPr txBox="1"/>
            <p:nvPr/>
          </p:nvSpPr>
          <p:spPr>
            <a:xfrm>
              <a:off x="457200" y="457225"/>
              <a:ext cx="7620000" cy="91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solidFill>
                    <a:srgbClr val="0B192C"/>
                  </a:solidFill>
                  <a:latin typeface="Inter"/>
                  <a:ea typeface="Inter"/>
                  <a:cs typeface="Inter"/>
                  <a:sym typeface="Inter"/>
                </a:rPr>
                <a:t>Model Performance - Baseline v/s XGBoost</a:t>
              </a:r>
              <a:endParaRPr b="1" sz="2700">
                <a:solidFill>
                  <a:srgbClr val="0B192C"/>
                </a:solidFill>
                <a:latin typeface="Inter"/>
                <a:ea typeface="Inter"/>
                <a:cs typeface="Inter"/>
                <a:sym typeface="Inter"/>
              </a:endParaRPr>
            </a:p>
          </p:txBody>
        </p:sp>
        <p:grpSp>
          <p:nvGrpSpPr>
            <p:cNvPr id="98" name="Google Shape;98;p16"/>
            <p:cNvGrpSpPr/>
            <p:nvPr/>
          </p:nvGrpSpPr>
          <p:grpSpPr>
            <a:xfrm>
              <a:off x="457200" y="1466850"/>
              <a:ext cx="8229600" cy="38100"/>
              <a:chOff x="0" y="0"/>
              <a:chExt cx="8229600" cy="38100"/>
            </a:xfrm>
          </p:grpSpPr>
          <p:sp>
            <p:nvSpPr>
              <p:cNvPr id="99" name="Google Shape;99;p16"/>
              <p:cNvSpPr/>
              <p:nvPr/>
            </p:nvSpPr>
            <p:spPr>
              <a:xfrm>
                <a:off x="0" y="0"/>
                <a:ext cx="571500" cy="381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6"/>
              <p:cNvSpPr/>
              <p:nvPr/>
            </p:nvSpPr>
            <p:spPr>
              <a:xfrm>
                <a:off x="571500" y="14288"/>
                <a:ext cx="76581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01" name="Google Shape;101;p16"/>
          <p:cNvGrpSpPr/>
          <p:nvPr/>
        </p:nvGrpSpPr>
        <p:grpSpPr>
          <a:xfrm>
            <a:off x="457200" y="1407550"/>
            <a:ext cx="3905400" cy="1809600"/>
            <a:chOff x="457200" y="1714500"/>
            <a:chExt cx="3905400" cy="1809600"/>
          </a:xfrm>
        </p:grpSpPr>
        <p:sp>
          <p:nvSpPr>
            <p:cNvPr id="102" name="Google Shape;102;p16"/>
            <p:cNvSpPr/>
            <p:nvPr/>
          </p:nvSpPr>
          <p:spPr>
            <a:xfrm>
              <a:off x="457200" y="1714500"/>
              <a:ext cx="3905400" cy="1809600"/>
            </a:xfrm>
            <a:prstGeom prst="roundRect">
              <a:avLst>
                <a:gd fmla="val 21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6"/>
            <p:cNvSpPr/>
            <p:nvPr/>
          </p:nvSpPr>
          <p:spPr>
            <a:xfrm>
              <a:off x="457200" y="1714500"/>
              <a:ext cx="3905400" cy="381000"/>
            </a:xfrm>
            <a:custGeom>
              <a:rect b="b" l="l" r="r" t="t"/>
              <a:pathLst>
                <a:path extrusionOk="0" h="120000" w="120000">
                  <a:moveTo>
                    <a:pt x="0" y="12000"/>
                  </a:moveTo>
                  <a:cubicBezTo>
                    <a:pt x="0" y="8817"/>
                    <a:pt x="123" y="5765"/>
                    <a:pt x="343" y="3515"/>
                  </a:cubicBezTo>
                  <a:cubicBezTo>
                    <a:pt x="562" y="1264"/>
                    <a:pt x="860" y="0"/>
                    <a:pt x="1171" y="0"/>
                  </a:cubicBezTo>
                  <a:lnTo>
                    <a:pt x="118829" y="0"/>
                  </a:lnTo>
                  <a:cubicBezTo>
                    <a:pt x="119140" y="-1"/>
                    <a:pt x="119437" y="1263"/>
                    <a:pt x="119657" y="3514"/>
                  </a:cubicBezTo>
                  <a:cubicBezTo>
                    <a:pt x="119877" y="5764"/>
                    <a:pt x="120000" y="8817"/>
                    <a:pt x="120000" y="12000"/>
                  </a:cubicBezTo>
                  <a:lnTo>
                    <a:pt x="120000" y="120000"/>
                  </a:lnTo>
                  <a:lnTo>
                    <a:pt x="0" y="120000"/>
                  </a:lnTo>
                  <a:close/>
                </a:path>
              </a:pathLst>
            </a:cu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6"/>
            <p:cNvSpPr txBox="1"/>
            <p:nvPr/>
          </p:nvSpPr>
          <p:spPr>
            <a:xfrm>
              <a:off x="647700" y="1809750"/>
              <a:ext cx="3524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FFFFFF"/>
                  </a:solidFill>
                  <a:latin typeface="Inter"/>
                  <a:ea typeface="Inter"/>
                  <a:cs typeface="Inter"/>
                  <a:sym typeface="Inter"/>
                </a:rPr>
                <a:t>Baseline Method</a:t>
              </a:r>
              <a:endParaRPr b="1" sz="1200">
                <a:solidFill>
                  <a:srgbClr val="FFFFFF"/>
                </a:solidFill>
                <a:latin typeface="Inter"/>
                <a:ea typeface="Inter"/>
                <a:cs typeface="Inter"/>
                <a:sym typeface="Inter"/>
              </a:endParaRPr>
            </a:p>
          </p:txBody>
        </p:sp>
        <p:sp>
          <p:nvSpPr>
            <p:cNvPr id="105" name="Google Shape;105;p16"/>
            <p:cNvSpPr txBox="1"/>
            <p:nvPr/>
          </p:nvSpPr>
          <p:spPr>
            <a:xfrm>
              <a:off x="647700" y="2512800"/>
              <a:ext cx="3524400" cy="662700"/>
            </a:xfrm>
            <a:prstGeom prst="rect">
              <a:avLst/>
            </a:prstGeom>
            <a:noFill/>
            <a:ln>
              <a:noFill/>
            </a:ln>
          </p:spPr>
          <p:txBody>
            <a:bodyPr anchorCtr="0" anchor="t" bIns="0" lIns="0" spcFirstLastPara="1" rIns="0" wrap="square" tIns="0">
              <a:noAutofit/>
            </a:bodyPr>
            <a:lstStyle/>
            <a:p>
              <a:pPr indent="-298450" lvl="0" marL="457200" rtl="0" algn="l">
                <a:lnSpc>
                  <a:spcPct val="135714"/>
                </a:lnSpc>
                <a:spcBef>
                  <a:spcPts val="0"/>
                </a:spcBef>
                <a:spcAft>
                  <a:spcPts val="0"/>
                </a:spcAft>
                <a:buClr>
                  <a:srgbClr val="1E3E62"/>
                </a:buClr>
                <a:buSzPts val="1100"/>
                <a:buFont typeface="Inter Medium"/>
                <a:buChar char="●"/>
              </a:pPr>
              <a:r>
                <a:rPr lang="en" sz="1100">
                  <a:solidFill>
                    <a:srgbClr val="1E3E62"/>
                  </a:solidFill>
                  <a:highlight>
                    <a:srgbClr val="FFFFFF"/>
                  </a:highlight>
                  <a:latin typeface="Inter Medium"/>
                  <a:ea typeface="Inter Medium"/>
                  <a:cs typeface="Inter Medium"/>
                  <a:sym typeface="Inter Medium"/>
                </a:rPr>
                <a:t>MAE:  140623.42</a:t>
              </a:r>
              <a:endParaRPr sz="1100">
                <a:solidFill>
                  <a:srgbClr val="1E3E62"/>
                </a:solidFill>
                <a:highlight>
                  <a:srgbClr val="FFFFFF"/>
                </a:highlight>
                <a:latin typeface="Inter Medium"/>
                <a:ea typeface="Inter Medium"/>
                <a:cs typeface="Inter Medium"/>
                <a:sym typeface="Inter Medium"/>
              </a:endParaRPr>
            </a:p>
            <a:p>
              <a:pPr indent="-298450" lvl="0" marL="457200" rtl="0" algn="l">
                <a:lnSpc>
                  <a:spcPct val="135714"/>
                </a:lnSpc>
                <a:spcBef>
                  <a:spcPts val="0"/>
                </a:spcBef>
                <a:spcAft>
                  <a:spcPts val="0"/>
                </a:spcAft>
                <a:buClr>
                  <a:srgbClr val="1E3E62"/>
                </a:buClr>
                <a:buSzPts val="1100"/>
                <a:buFont typeface="Inter Medium"/>
                <a:buChar char="●"/>
              </a:pPr>
              <a:r>
                <a:rPr lang="en" sz="1100">
                  <a:solidFill>
                    <a:srgbClr val="1E3E62"/>
                  </a:solidFill>
                  <a:highlight>
                    <a:srgbClr val="FFFFFF"/>
                  </a:highlight>
                  <a:latin typeface="Inter Medium"/>
                  <a:ea typeface="Inter Medium"/>
                  <a:cs typeface="Inter Medium"/>
                  <a:sym typeface="Inter Medium"/>
                </a:rPr>
                <a:t>RMSE: 191705.33</a:t>
              </a:r>
              <a:endParaRPr sz="1100">
                <a:solidFill>
                  <a:srgbClr val="1E3E62"/>
                </a:solidFill>
                <a:latin typeface="Inter Medium"/>
                <a:ea typeface="Inter Medium"/>
                <a:cs typeface="Inter Medium"/>
                <a:sym typeface="Inter Medium"/>
              </a:endParaRPr>
            </a:p>
          </p:txBody>
        </p:sp>
      </p:grpSp>
      <p:grpSp>
        <p:nvGrpSpPr>
          <p:cNvPr id="106" name="Google Shape;106;p16"/>
          <p:cNvGrpSpPr/>
          <p:nvPr/>
        </p:nvGrpSpPr>
        <p:grpSpPr>
          <a:xfrm>
            <a:off x="4781400" y="1407550"/>
            <a:ext cx="3905400" cy="1809600"/>
            <a:chOff x="4781550" y="1714500"/>
            <a:chExt cx="3905400" cy="1809600"/>
          </a:xfrm>
        </p:grpSpPr>
        <p:sp>
          <p:nvSpPr>
            <p:cNvPr id="107" name="Google Shape;107;p16"/>
            <p:cNvSpPr/>
            <p:nvPr/>
          </p:nvSpPr>
          <p:spPr>
            <a:xfrm>
              <a:off x="4781550" y="1714500"/>
              <a:ext cx="3905400" cy="1809600"/>
            </a:xfrm>
            <a:prstGeom prst="roundRect">
              <a:avLst>
                <a:gd fmla="val 21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6"/>
            <p:cNvSpPr/>
            <p:nvPr/>
          </p:nvSpPr>
          <p:spPr>
            <a:xfrm>
              <a:off x="4781550" y="1714500"/>
              <a:ext cx="3905400" cy="381000"/>
            </a:xfrm>
            <a:custGeom>
              <a:rect b="b" l="l" r="r" t="t"/>
              <a:pathLst>
                <a:path extrusionOk="0" h="120000" w="120000">
                  <a:moveTo>
                    <a:pt x="0" y="12000"/>
                  </a:moveTo>
                  <a:cubicBezTo>
                    <a:pt x="0" y="8817"/>
                    <a:pt x="123" y="5765"/>
                    <a:pt x="343" y="3515"/>
                  </a:cubicBezTo>
                  <a:cubicBezTo>
                    <a:pt x="562" y="1264"/>
                    <a:pt x="860" y="0"/>
                    <a:pt x="1171" y="0"/>
                  </a:cubicBezTo>
                  <a:lnTo>
                    <a:pt x="118829" y="0"/>
                  </a:lnTo>
                  <a:cubicBezTo>
                    <a:pt x="119140" y="-1"/>
                    <a:pt x="119437" y="1263"/>
                    <a:pt x="119657" y="3514"/>
                  </a:cubicBezTo>
                  <a:cubicBezTo>
                    <a:pt x="119877" y="5764"/>
                    <a:pt x="120000" y="8817"/>
                    <a:pt x="120000" y="12000"/>
                  </a:cubicBezTo>
                  <a:lnTo>
                    <a:pt x="120000" y="120000"/>
                  </a:lnTo>
                  <a:lnTo>
                    <a:pt x="0" y="120000"/>
                  </a:lnTo>
                  <a:close/>
                </a:path>
              </a:pathLst>
            </a:cu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6"/>
            <p:cNvSpPr txBox="1"/>
            <p:nvPr/>
          </p:nvSpPr>
          <p:spPr>
            <a:xfrm>
              <a:off x="4972050" y="1809750"/>
              <a:ext cx="3524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FFFFFF"/>
                  </a:solidFill>
                  <a:latin typeface="Inter"/>
                  <a:ea typeface="Inter"/>
                  <a:cs typeface="Inter"/>
                  <a:sym typeface="Inter"/>
                </a:rPr>
                <a:t>XGBoost Model</a:t>
              </a:r>
              <a:endParaRPr b="1" sz="1200">
                <a:solidFill>
                  <a:srgbClr val="FFFFFF"/>
                </a:solidFill>
                <a:latin typeface="Inter"/>
                <a:ea typeface="Inter"/>
                <a:cs typeface="Inter"/>
                <a:sym typeface="Inter"/>
              </a:endParaRPr>
            </a:p>
          </p:txBody>
        </p:sp>
      </p:grpSp>
      <p:grpSp>
        <p:nvGrpSpPr>
          <p:cNvPr id="110" name="Google Shape;110;p16"/>
          <p:cNvGrpSpPr/>
          <p:nvPr/>
        </p:nvGrpSpPr>
        <p:grpSpPr>
          <a:xfrm>
            <a:off x="457200" y="3462734"/>
            <a:ext cx="8229600" cy="1433487"/>
            <a:chOff x="457200" y="3762375"/>
            <a:chExt cx="8229600" cy="857400"/>
          </a:xfrm>
        </p:grpSpPr>
        <p:sp>
          <p:nvSpPr>
            <p:cNvPr id="111" name="Google Shape;111;p16"/>
            <p:cNvSpPr/>
            <p:nvPr/>
          </p:nvSpPr>
          <p:spPr>
            <a:xfrm>
              <a:off x="457200" y="3762375"/>
              <a:ext cx="8229600" cy="857400"/>
            </a:xfrm>
            <a:prstGeom prst="roundRect">
              <a:avLst>
                <a:gd fmla="val 4444"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6"/>
            <p:cNvSpPr/>
            <p:nvPr/>
          </p:nvSpPr>
          <p:spPr>
            <a:xfrm>
              <a:off x="457200" y="3762375"/>
              <a:ext cx="76200" cy="857400"/>
            </a:xfrm>
            <a:custGeom>
              <a:rect b="b" l="l" r="r" t="t"/>
              <a:pathLst>
                <a:path extrusionOk="0" h="120000" w="120000">
                  <a:moveTo>
                    <a:pt x="120000" y="0"/>
                  </a:moveTo>
                  <a:lnTo>
                    <a:pt x="60000" y="0"/>
                  </a:lnTo>
                  <a:cubicBezTo>
                    <a:pt x="26863" y="0"/>
                    <a:pt x="0" y="2388"/>
                    <a:pt x="0" y="5333"/>
                  </a:cubicBezTo>
                  <a:lnTo>
                    <a:pt x="0" y="114667"/>
                  </a:lnTo>
                  <a:cubicBezTo>
                    <a:pt x="2" y="117612"/>
                    <a:pt x="26864" y="120000"/>
                    <a:pt x="60000" y="120000"/>
                  </a:cubicBezTo>
                  <a:lnTo>
                    <a:pt x="120000" y="120000"/>
                  </a:lnTo>
                  <a:close/>
                </a:path>
              </a:pathLst>
            </a:cu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txBox="1"/>
            <p:nvPr/>
          </p:nvSpPr>
          <p:spPr>
            <a:xfrm>
              <a:off x="756950" y="3850862"/>
              <a:ext cx="7625100" cy="67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a:solidFill>
                    <a:srgbClr val="FF6500"/>
                  </a:solidFill>
                  <a:latin typeface="Inter ExtraBold"/>
                  <a:ea typeface="Inter ExtraBold"/>
                  <a:cs typeface="Inter ExtraBold"/>
                  <a:sym typeface="Inter ExtraBold"/>
                </a:rPr>
                <a:t>Takeaway</a:t>
              </a:r>
              <a:r>
                <a:rPr b="0" lang="en" sz="1050">
                  <a:solidFill>
                    <a:srgbClr val="FF6500"/>
                  </a:solidFill>
                  <a:latin typeface="Inter ExtraBold"/>
                  <a:ea typeface="Inter ExtraBold"/>
                  <a:cs typeface="Inter ExtraBold"/>
                  <a:sym typeface="Inter ExtraBold"/>
                </a:rPr>
                <a:t>:</a:t>
              </a:r>
              <a:r>
                <a:rPr lang="en" sz="1275">
                  <a:solidFill>
                    <a:srgbClr val="1E3E62"/>
                  </a:solidFill>
                  <a:latin typeface="Inter Medium"/>
                  <a:ea typeface="Inter Medium"/>
                  <a:cs typeface="Inter Medium"/>
                  <a:sym typeface="Inter Medium"/>
                </a:rPr>
                <a:t> </a:t>
              </a:r>
              <a:r>
                <a:rPr lang="en" sz="1250">
                  <a:solidFill>
                    <a:srgbClr val="1E3E62"/>
                  </a:solidFill>
                  <a:latin typeface="Inter Medium"/>
                  <a:ea typeface="Inter Medium"/>
                  <a:cs typeface="Inter Medium"/>
                  <a:sym typeface="Inter Medium"/>
                </a:rPr>
                <a:t>The XGBoost model demonstrates a significant performance improvement over the baseline model across both MAE and RMSE. The substantial reduction in error metrics highlights the XGBoost model's superior ability to capture complex patterns and provide highly accurate predictions for ATM dispense amounts.</a:t>
              </a:r>
              <a:endParaRPr sz="1250">
                <a:solidFill>
                  <a:srgbClr val="1E3E62"/>
                </a:solidFill>
                <a:latin typeface="Inter Medium"/>
                <a:ea typeface="Inter Medium"/>
                <a:cs typeface="Inter Medium"/>
                <a:sym typeface="Inter Medium"/>
              </a:endParaRPr>
            </a:p>
          </p:txBody>
        </p:sp>
      </p:grpSp>
      <p:sp>
        <p:nvSpPr>
          <p:cNvPr id="114" name="Google Shape;114;p16"/>
          <p:cNvSpPr txBox="1"/>
          <p:nvPr/>
        </p:nvSpPr>
        <p:spPr>
          <a:xfrm>
            <a:off x="4971900" y="2240400"/>
            <a:ext cx="3524400" cy="662700"/>
          </a:xfrm>
          <a:prstGeom prst="rect">
            <a:avLst/>
          </a:prstGeom>
          <a:noFill/>
          <a:ln>
            <a:noFill/>
          </a:ln>
        </p:spPr>
        <p:txBody>
          <a:bodyPr anchorCtr="0" anchor="t" bIns="0" lIns="0" spcFirstLastPara="1" rIns="0" wrap="square" tIns="0">
            <a:noAutofit/>
          </a:bodyPr>
          <a:lstStyle/>
          <a:p>
            <a:pPr indent="-298450" lvl="0" marL="457200" rtl="0" algn="l">
              <a:lnSpc>
                <a:spcPct val="135714"/>
              </a:lnSpc>
              <a:spcBef>
                <a:spcPts val="0"/>
              </a:spcBef>
              <a:spcAft>
                <a:spcPts val="0"/>
              </a:spcAft>
              <a:buClr>
                <a:srgbClr val="1E3E62"/>
              </a:buClr>
              <a:buSzPts val="1100"/>
              <a:buFont typeface="Inter Medium"/>
              <a:buChar char="●"/>
            </a:pPr>
            <a:r>
              <a:rPr lang="en" sz="1100">
                <a:solidFill>
                  <a:srgbClr val="1E3E62"/>
                </a:solidFill>
                <a:highlight>
                  <a:srgbClr val="FFFFFF"/>
                </a:highlight>
                <a:latin typeface="Inter Medium"/>
                <a:ea typeface="Inter Medium"/>
                <a:cs typeface="Inter Medium"/>
                <a:sym typeface="Inter Medium"/>
              </a:rPr>
              <a:t>MAE:  </a:t>
            </a:r>
            <a:r>
              <a:rPr lang="en" sz="1050">
                <a:solidFill>
                  <a:schemeClr val="dk1"/>
                </a:solidFill>
                <a:highlight>
                  <a:srgbClr val="FFFFFF"/>
                </a:highlight>
                <a:latin typeface="Inter Medium"/>
                <a:ea typeface="Inter Medium"/>
                <a:cs typeface="Inter Medium"/>
                <a:sym typeface="Inter Medium"/>
              </a:rPr>
              <a:t>1018.13</a:t>
            </a:r>
            <a:endParaRPr sz="1100">
              <a:solidFill>
                <a:srgbClr val="1E3E62"/>
              </a:solidFill>
              <a:highlight>
                <a:srgbClr val="FFFFFF"/>
              </a:highlight>
              <a:latin typeface="Inter Medium"/>
              <a:ea typeface="Inter Medium"/>
              <a:cs typeface="Inter Medium"/>
              <a:sym typeface="Inter Medium"/>
            </a:endParaRPr>
          </a:p>
          <a:p>
            <a:pPr indent="-298450" lvl="0" marL="457200" rtl="0" algn="l">
              <a:lnSpc>
                <a:spcPct val="135714"/>
              </a:lnSpc>
              <a:spcBef>
                <a:spcPts val="0"/>
              </a:spcBef>
              <a:spcAft>
                <a:spcPts val="0"/>
              </a:spcAft>
              <a:buClr>
                <a:srgbClr val="1E3E62"/>
              </a:buClr>
              <a:buSzPts val="1100"/>
              <a:buFont typeface="Inter Medium"/>
              <a:buChar char="●"/>
            </a:pPr>
            <a:r>
              <a:rPr lang="en" sz="1100">
                <a:solidFill>
                  <a:srgbClr val="1E3E62"/>
                </a:solidFill>
                <a:highlight>
                  <a:srgbClr val="FFFFFF"/>
                </a:highlight>
                <a:latin typeface="Inter Medium"/>
                <a:ea typeface="Inter Medium"/>
                <a:cs typeface="Inter Medium"/>
                <a:sym typeface="Inter Medium"/>
              </a:rPr>
              <a:t>RMSE: </a:t>
            </a:r>
            <a:r>
              <a:rPr lang="en" sz="1050">
                <a:solidFill>
                  <a:schemeClr val="dk1"/>
                </a:solidFill>
                <a:highlight>
                  <a:srgbClr val="FFFFFF"/>
                </a:highlight>
                <a:latin typeface="Inter Medium"/>
                <a:ea typeface="Inter Medium"/>
                <a:cs typeface="Inter Medium"/>
                <a:sym typeface="Inter Medium"/>
              </a:rPr>
              <a:t>1306.61</a:t>
            </a:r>
            <a:endParaRPr sz="1100">
              <a:solidFill>
                <a:srgbClr val="1E3E62"/>
              </a:solidFill>
              <a:highlight>
                <a:srgbClr val="FFFFFF"/>
              </a:highlight>
              <a:latin typeface="Inter Medium"/>
              <a:ea typeface="Inter Medium"/>
              <a:cs typeface="Inter Medium"/>
              <a:sym typeface="Inter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p:nvPr/>
        </p:nvSpPr>
        <p:spPr>
          <a:xfrm>
            <a:off x="0" y="0"/>
            <a:ext cx="35337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7"/>
          <p:cNvSpPr/>
          <p:nvPr/>
        </p:nvSpPr>
        <p:spPr>
          <a:xfrm>
            <a:off x="4572000" y="0"/>
            <a:ext cx="4572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1" name="Google Shape;121;p17"/>
          <p:cNvPicPr preferRelativeResize="0"/>
          <p:nvPr/>
        </p:nvPicPr>
        <p:blipFill rotWithShape="1">
          <a:blip r:embed="rId3">
            <a:alphaModFix/>
          </a:blip>
          <a:srcRect b="0" l="0" r="0" t="0"/>
          <a:stretch/>
        </p:blipFill>
        <p:spPr>
          <a:xfrm>
            <a:off x="3466425" y="0"/>
            <a:ext cx="5477700" cy="5048400"/>
          </a:xfrm>
          <a:prstGeom prst="rect">
            <a:avLst/>
          </a:prstGeom>
          <a:noFill/>
          <a:ln>
            <a:noFill/>
          </a:ln>
        </p:spPr>
      </p:pic>
      <p:grpSp>
        <p:nvGrpSpPr>
          <p:cNvPr id="122" name="Google Shape;122;p17"/>
          <p:cNvGrpSpPr/>
          <p:nvPr/>
        </p:nvGrpSpPr>
        <p:grpSpPr>
          <a:xfrm>
            <a:off x="457200" y="457200"/>
            <a:ext cx="304800" cy="228600"/>
            <a:chOff x="0" y="0"/>
            <a:chExt cx="304800" cy="228600"/>
          </a:xfrm>
        </p:grpSpPr>
        <p:sp>
          <p:nvSpPr>
            <p:cNvPr id="123" name="Google Shape;123;p17"/>
            <p:cNvSpPr/>
            <p:nvPr/>
          </p:nvSpPr>
          <p:spPr>
            <a:xfrm>
              <a:off x="0" y="76200"/>
              <a:ext cx="76200" cy="152400"/>
            </a:xfrm>
            <a:prstGeom prst="rect">
              <a:avLst/>
            </a:pr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7"/>
            <p:cNvSpPr/>
            <p:nvPr/>
          </p:nvSpPr>
          <p:spPr>
            <a:xfrm>
              <a:off x="114300" y="0"/>
              <a:ext cx="76200" cy="228600"/>
            </a:xfrm>
            <a:prstGeom prst="rect">
              <a:avLst/>
            </a:pr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7"/>
            <p:cNvSpPr/>
            <p:nvPr/>
          </p:nvSpPr>
          <p:spPr>
            <a:xfrm>
              <a:off x="228600" y="114300"/>
              <a:ext cx="76200" cy="1143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7"/>
            <p:cNvSpPr/>
            <p:nvPr/>
          </p:nvSpPr>
          <p:spPr>
            <a:xfrm>
              <a:off x="228600" y="0"/>
              <a:ext cx="76200" cy="76200"/>
            </a:xfrm>
            <a:prstGeom prst="ellipse">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7" name="Google Shape;127;p17"/>
          <p:cNvGrpSpPr/>
          <p:nvPr/>
        </p:nvGrpSpPr>
        <p:grpSpPr>
          <a:xfrm>
            <a:off x="840228" y="316649"/>
            <a:ext cx="3307807" cy="932264"/>
            <a:chOff x="457200" y="-47899"/>
            <a:chExt cx="3690925" cy="2514874"/>
          </a:xfrm>
        </p:grpSpPr>
        <p:sp>
          <p:nvSpPr>
            <p:cNvPr id="128" name="Google Shape;128;p17"/>
            <p:cNvSpPr txBox="1"/>
            <p:nvPr/>
          </p:nvSpPr>
          <p:spPr>
            <a:xfrm>
              <a:off x="457225" y="-47899"/>
              <a:ext cx="3690900" cy="212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550">
                  <a:solidFill>
                    <a:srgbClr val="0B192C"/>
                  </a:solidFill>
                  <a:latin typeface="Inter"/>
                  <a:ea typeface="Inter"/>
                  <a:cs typeface="Inter"/>
                  <a:sym typeface="Inter"/>
                </a:rPr>
                <a:t>Overall Actual v/s Predicted Dispense</a:t>
              </a:r>
              <a:endParaRPr b="1" sz="2550">
                <a:solidFill>
                  <a:srgbClr val="0B192C"/>
                </a:solidFill>
                <a:latin typeface="Inter"/>
                <a:ea typeface="Inter"/>
                <a:cs typeface="Inter"/>
                <a:sym typeface="Inter"/>
              </a:endParaRPr>
            </a:p>
          </p:txBody>
        </p:sp>
        <p:grpSp>
          <p:nvGrpSpPr>
            <p:cNvPr id="129" name="Google Shape;129;p17"/>
            <p:cNvGrpSpPr/>
            <p:nvPr/>
          </p:nvGrpSpPr>
          <p:grpSpPr>
            <a:xfrm>
              <a:off x="457200" y="2428875"/>
              <a:ext cx="3657600" cy="38100"/>
              <a:chOff x="0" y="0"/>
              <a:chExt cx="3657600" cy="38100"/>
            </a:xfrm>
          </p:grpSpPr>
          <p:sp>
            <p:nvSpPr>
              <p:cNvPr id="130" name="Google Shape;130;p17"/>
              <p:cNvSpPr/>
              <p:nvPr/>
            </p:nvSpPr>
            <p:spPr>
              <a:xfrm>
                <a:off x="0" y="0"/>
                <a:ext cx="571500" cy="381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7"/>
              <p:cNvSpPr/>
              <p:nvPr/>
            </p:nvSpPr>
            <p:spPr>
              <a:xfrm>
                <a:off x="571500" y="14288"/>
                <a:ext cx="30861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132" name="Google Shape;132;p17"/>
          <p:cNvSpPr txBox="1"/>
          <p:nvPr/>
        </p:nvSpPr>
        <p:spPr>
          <a:xfrm>
            <a:off x="840225" y="1467400"/>
            <a:ext cx="3063900" cy="3451500"/>
          </a:xfrm>
          <a:prstGeom prst="rect">
            <a:avLst/>
          </a:prstGeom>
          <a:noFill/>
          <a:ln>
            <a:noFill/>
          </a:ln>
        </p:spPr>
        <p:txBody>
          <a:bodyPr anchorCtr="0" anchor="t" bIns="0" lIns="0" spcFirstLastPara="1" rIns="0" wrap="square" tIns="0">
            <a:noAutofit/>
          </a:bodyPr>
          <a:lstStyle/>
          <a:p>
            <a:pPr indent="-228600" lvl="0" marL="457200" rtl="0" algn="l">
              <a:spcBef>
                <a:spcPts val="1200"/>
              </a:spcBef>
              <a:spcAft>
                <a:spcPts val="0"/>
              </a:spcAft>
              <a:buNone/>
            </a:pPr>
            <a:r>
              <a:rPr b="1" lang="en" sz="1125">
                <a:solidFill>
                  <a:srgbClr val="0B192C"/>
                </a:solidFill>
                <a:latin typeface="Inter"/>
                <a:ea typeface="Inter"/>
                <a:cs typeface="Inter"/>
                <a:sym typeface="Inter"/>
              </a:rPr>
              <a:t>Key Observations</a:t>
            </a:r>
            <a:endParaRPr b="1" sz="1125">
              <a:solidFill>
                <a:srgbClr val="0B192C"/>
              </a:solidFill>
              <a:latin typeface="Inter"/>
              <a:ea typeface="Inter"/>
              <a:cs typeface="Inter"/>
              <a:sym typeface="Inter"/>
            </a:endParaRPr>
          </a:p>
          <a:p>
            <a:pPr indent="-295275" lvl="0" marL="457200" rtl="0" algn="l">
              <a:spcBef>
                <a:spcPts val="1200"/>
              </a:spcBef>
              <a:spcAft>
                <a:spcPts val="0"/>
              </a:spcAft>
              <a:buClr>
                <a:srgbClr val="0B192C"/>
              </a:buClr>
              <a:buSzPts val="1050"/>
              <a:buFont typeface="Inter"/>
              <a:buChar char="●"/>
            </a:pPr>
            <a:r>
              <a:rPr lang="en" sz="1050">
                <a:solidFill>
                  <a:srgbClr val="0B192C"/>
                </a:solidFill>
                <a:latin typeface="Inter"/>
                <a:ea typeface="Inter"/>
                <a:cs typeface="Inter"/>
                <a:sym typeface="Inter"/>
              </a:rPr>
              <a:t>The </a:t>
            </a:r>
            <a:r>
              <a:rPr b="1" lang="en" sz="1050">
                <a:solidFill>
                  <a:srgbClr val="0B192C"/>
                </a:solidFill>
                <a:latin typeface="Inter"/>
                <a:ea typeface="Inter"/>
                <a:cs typeface="Inter"/>
                <a:sym typeface="Inter"/>
              </a:rPr>
              <a:t>Actual</a:t>
            </a:r>
            <a:r>
              <a:rPr lang="en" sz="1050">
                <a:solidFill>
                  <a:srgbClr val="0B192C"/>
                </a:solidFill>
                <a:latin typeface="Inter"/>
                <a:ea typeface="Inter"/>
                <a:cs typeface="Inter"/>
                <a:sym typeface="Inter"/>
              </a:rPr>
              <a:t> (blue line) and </a:t>
            </a:r>
            <a:r>
              <a:rPr b="1" lang="en" sz="1050">
                <a:solidFill>
                  <a:srgbClr val="0B192C"/>
                </a:solidFill>
                <a:latin typeface="Inter"/>
                <a:ea typeface="Inter"/>
                <a:cs typeface="Inter"/>
                <a:sym typeface="Inter"/>
              </a:rPr>
              <a:t>Predicted</a:t>
            </a:r>
            <a:r>
              <a:rPr lang="en" sz="1050">
                <a:solidFill>
                  <a:srgbClr val="0B192C"/>
                </a:solidFill>
                <a:latin typeface="Inter"/>
                <a:ea typeface="Inter"/>
                <a:cs typeface="Inter"/>
                <a:sym typeface="Inter"/>
              </a:rPr>
              <a:t> (orange line) dispense amounts show a remarkably close alignment over the entire forecasting period.</a:t>
            </a:r>
            <a:endParaRPr sz="1050">
              <a:solidFill>
                <a:srgbClr val="0B192C"/>
              </a:solidFill>
              <a:latin typeface="Inter"/>
              <a:ea typeface="Inter"/>
              <a:cs typeface="Inter"/>
              <a:sym typeface="Inter"/>
            </a:endParaRPr>
          </a:p>
          <a:p>
            <a:pPr indent="-295275" lvl="0" marL="457200" rtl="0" algn="l">
              <a:spcBef>
                <a:spcPts val="1000"/>
              </a:spcBef>
              <a:spcAft>
                <a:spcPts val="0"/>
              </a:spcAft>
              <a:buClr>
                <a:srgbClr val="0B192C"/>
              </a:buClr>
              <a:buSzPts val="1050"/>
              <a:buFont typeface="Inter"/>
              <a:buChar char="●"/>
            </a:pPr>
            <a:r>
              <a:rPr lang="en" sz="1050">
                <a:solidFill>
                  <a:srgbClr val="0B192C"/>
                </a:solidFill>
                <a:latin typeface="Inter"/>
                <a:ea typeface="Inter"/>
                <a:cs typeface="Inter"/>
                <a:sym typeface="Inter"/>
              </a:rPr>
              <a:t>This strong visual correlation indicates the model's excellent ability to capture the general trend and daily fluctuations in ATM cash dispense.</a:t>
            </a:r>
            <a:endParaRPr sz="1050">
              <a:solidFill>
                <a:srgbClr val="0B192C"/>
              </a:solidFill>
              <a:latin typeface="Inter"/>
              <a:ea typeface="Inter"/>
              <a:cs typeface="Inter"/>
              <a:sym typeface="Inter"/>
            </a:endParaRPr>
          </a:p>
          <a:p>
            <a:pPr indent="-295275" lvl="0" marL="457200" rtl="0" algn="l">
              <a:spcBef>
                <a:spcPts val="1000"/>
              </a:spcBef>
              <a:spcAft>
                <a:spcPts val="0"/>
              </a:spcAft>
              <a:buClr>
                <a:srgbClr val="0B192C"/>
              </a:buClr>
              <a:buSzPts val="1050"/>
              <a:buFont typeface="Inter"/>
              <a:buChar char="●"/>
            </a:pPr>
            <a:r>
              <a:rPr lang="en" sz="1050">
                <a:solidFill>
                  <a:srgbClr val="0B192C"/>
                </a:solidFill>
                <a:latin typeface="Inter"/>
                <a:ea typeface="Inter"/>
                <a:cs typeface="Inter"/>
                <a:sym typeface="Inter"/>
              </a:rPr>
              <a:t>The consistent overlap between the actual and predicted lines reinforces the quantitative metrics (MAE: 1,018.13, RMSE: 1,306.61), demonstrating the model's high accuracy in real-world scenarios.</a:t>
            </a:r>
            <a:endParaRPr sz="1050">
              <a:solidFill>
                <a:srgbClr val="0B192C"/>
              </a:solidFill>
              <a:latin typeface="Inter"/>
              <a:ea typeface="Inter"/>
              <a:cs typeface="Inter"/>
              <a:sym typeface="Inter"/>
            </a:endParaRPr>
          </a:p>
          <a:p>
            <a:pPr indent="-295275" lvl="0" marL="457200" rtl="0" algn="l">
              <a:spcBef>
                <a:spcPts val="1200"/>
              </a:spcBef>
              <a:spcAft>
                <a:spcPts val="1000"/>
              </a:spcAft>
              <a:buClr>
                <a:srgbClr val="0B192C"/>
              </a:buClr>
              <a:buSzPts val="1050"/>
              <a:buFont typeface="Inter"/>
              <a:buChar char="●"/>
            </a:pPr>
            <a:r>
              <a:rPr lang="en" sz="1050">
                <a:solidFill>
                  <a:srgbClr val="0B192C"/>
                </a:solidFill>
                <a:latin typeface="Inter"/>
                <a:ea typeface="Inter"/>
                <a:cs typeface="Inter"/>
                <a:sym typeface="Inter"/>
              </a:rPr>
              <a:t>This plot, generated visually confirms the effectiveness of the XGBoost Regressor in providing reliable dispense forecasts.</a:t>
            </a:r>
            <a:endParaRPr sz="1050">
              <a:solidFill>
                <a:srgbClr val="0B192C"/>
              </a:solidFill>
              <a:latin typeface="Inter"/>
              <a:ea typeface="Inter"/>
              <a:cs typeface="Inter"/>
              <a:sym typeface="Inter"/>
            </a:endParaRPr>
          </a:p>
        </p:txBody>
      </p:sp>
      <p:pic>
        <p:nvPicPr>
          <p:cNvPr id="133" name="Google Shape;133;p17"/>
          <p:cNvPicPr preferRelativeResize="0"/>
          <p:nvPr/>
        </p:nvPicPr>
        <p:blipFill>
          <a:blip r:embed="rId4">
            <a:alphaModFix/>
          </a:blip>
          <a:stretch>
            <a:fillRect/>
          </a:stretch>
        </p:blipFill>
        <p:spPr>
          <a:xfrm>
            <a:off x="4938200" y="586537"/>
            <a:ext cx="3839600" cy="3970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18"/>
          <p:cNvGrpSpPr/>
          <p:nvPr/>
        </p:nvGrpSpPr>
        <p:grpSpPr>
          <a:xfrm>
            <a:off x="0" y="0"/>
            <a:ext cx="9144000" cy="5143500"/>
            <a:chOff x="0" y="0"/>
            <a:chExt cx="9144000" cy="5143500"/>
          </a:xfrm>
        </p:grpSpPr>
        <p:sp>
          <p:nvSpPr>
            <p:cNvPr id="139" name="Google Shape;139;p18"/>
            <p:cNvSpPr/>
            <p:nvPr/>
          </p:nvSpPr>
          <p:spPr>
            <a:xfrm>
              <a:off x="0" y="0"/>
              <a:ext cx="4572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8"/>
            <p:cNvSpPr/>
            <p:nvPr/>
          </p:nvSpPr>
          <p:spPr>
            <a:xfrm>
              <a:off x="4572000" y="0"/>
              <a:ext cx="4572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1" name="Google Shape;141;p18"/>
            <p:cNvGrpSpPr/>
            <p:nvPr/>
          </p:nvGrpSpPr>
          <p:grpSpPr>
            <a:xfrm>
              <a:off x="457200" y="457200"/>
              <a:ext cx="304800" cy="228600"/>
              <a:chOff x="0" y="0"/>
              <a:chExt cx="304800" cy="228600"/>
            </a:xfrm>
          </p:grpSpPr>
          <p:sp>
            <p:nvSpPr>
              <p:cNvPr id="142" name="Google Shape;142;p18"/>
              <p:cNvSpPr/>
              <p:nvPr/>
            </p:nvSpPr>
            <p:spPr>
              <a:xfrm>
                <a:off x="0" y="76200"/>
                <a:ext cx="76200" cy="152400"/>
              </a:xfrm>
              <a:prstGeom prst="rect">
                <a:avLst/>
              </a:pr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8"/>
              <p:cNvSpPr/>
              <p:nvPr/>
            </p:nvSpPr>
            <p:spPr>
              <a:xfrm>
                <a:off x="114300" y="0"/>
                <a:ext cx="76200" cy="228600"/>
              </a:xfrm>
              <a:prstGeom prst="rect">
                <a:avLst/>
              </a:pr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8"/>
              <p:cNvSpPr/>
              <p:nvPr/>
            </p:nvSpPr>
            <p:spPr>
              <a:xfrm>
                <a:off x="228600" y="114300"/>
                <a:ext cx="76200" cy="1143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8"/>
              <p:cNvSpPr/>
              <p:nvPr/>
            </p:nvSpPr>
            <p:spPr>
              <a:xfrm>
                <a:off x="228600" y="0"/>
                <a:ext cx="76200" cy="76200"/>
              </a:xfrm>
              <a:prstGeom prst="ellipse">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46" name="Google Shape;146;p18"/>
          <p:cNvGrpSpPr/>
          <p:nvPr/>
        </p:nvGrpSpPr>
        <p:grpSpPr>
          <a:xfrm>
            <a:off x="950825" y="285021"/>
            <a:ext cx="7735824" cy="560975"/>
            <a:chOff x="0" y="-952506"/>
            <a:chExt cx="8229600" cy="1943106"/>
          </a:xfrm>
        </p:grpSpPr>
        <p:sp>
          <p:nvSpPr>
            <p:cNvPr id="147" name="Google Shape;147;p18"/>
            <p:cNvSpPr txBox="1"/>
            <p:nvPr/>
          </p:nvSpPr>
          <p:spPr>
            <a:xfrm>
              <a:off x="0" y="-952506"/>
              <a:ext cx="8017800" cy="19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b="1" lang="en" sz="2700">
                  <a:solidFill>
                    <a:srgbClr val="0B192C"/>
                  </a:solidFill>
                  <a:latin typeface="Inter"/>
                  <a:ea typeface="Inter"/>
                  <a:cs typeface="Inter"/>
                  <a:sym typeface="Inter"/>
                </a:rPr>
                <a:t>ATM-Specific Actual vs Predicted Dispense</a:t>
              </a:r>
              <a:endParaRPr b="1" sz="2700">
                <a:solidFill>
                  <a:srgbClr val="0B192C"/>
                </a:solidFill>
                <a:latin typeface="Inter"/>
                <a:ea typeface="Inter"/>
                <a:cs typeface="Inter"/>
                <a:sym typeface="Inter"/>
              </a:endParaRPr>
            </a:p>
          </p:txBody>
        </p:sp>
        <p:grpSp>
          <p:nvGrpSpPr>
            <p:cNvPr id="148" name="Google Shape;148;p18"/>
            <p:cNvGrpSpPr/>
            <p:nvPr/>
          </p:nvGrpSpPr>
          <p:grpSpPr>
            <a:xfrm>
              <a:off x="0" y="952500"/>
              <a:ext cx="8229600" cy="38100"/>
              <a:chOff x="0" y="0"/>
              <a:chExt cx="8229600" cy="38100"/>
            </a:xfrm>
          </p:grpSpPr>
          <p:sp>
            <p:nvSpPr>
              <p:cNvPr id="149" name="Google Shape;149;p18"/>
              <p:cNvSpPr/>
              <p:nvPr/>
            </p:nvSpPr>
            <p:spPr>
              <a:xfrm>
                <a:off x="0" y="0"/>
                <a:ext cx="571500" cy="381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8"/>
              <p:cNvSpPr/>
              <p:nvPr/>
            </p:nvSpPr>
            <p:spPr>
              <a:xfrm>
                <a:off x="571500" y="14288"/>
                <a:ext cx="76581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51" name="Google Shape;151;p18"/>
          <p:cNvGrpSpPr/>
          <p:nvPr/>
        </p:nvGrpSpPr>
        <p:grpSpPr>
          <a:xfrm>
            <a:off x="419750" y="1045275"/>
            <a:ext cx="3728085" cy="3476700"/>
            <a:chOff x="0" y="0"/>
            <a:chExt cx="3619500" cy="3476700"/>
          </a:xfrm>
        </p:grpSpPr>
        <p:sp>
          <p:nvSpPr>
            <p:cNvPr id="152" name="Google Shape;152;p18"/>
            <p:cNvSpPr/>
            <p:nvPr/>
          </p:nvSpPr>
          <p:spPr>
            <a:xfrm>
              <a:off x="0" y="38100"/>
              <a:ext cx="76200" cy="76200"/>
            </a:xfrm>
            <a:prstGeom prst="roundRect">
              <a:avLst>
                <a:gd fmla="val 12500" name="adj"/>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8"/>
            <p:cNvSpPr txBox="1"/>
            <p:nvPr/>
          </p:nvSpPr>
          <p:spPr>
            <a:xfrm>
              <a:off x="190500" y="0"/>
              <a:ext cx="3429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FF6500"/>
                  </a:solidFill>
                  <a:latin typeface="Inter SemiBold"/>
                  <a:ea typeface="Inter SemiBold"/>
                  <a:cs typeface="Inter SemiBold"/>
                  <a:sym typeface="Inter SemiBold"/>
                </a:rPr>
                <a:t>OBSERVATION</a:t>
              </a:r>
              <a:endParaRPr b="0" sz="1050">
                <a:solidFill>
                  <a:srgbClr val="FF6500"/>
                </a:solidFill>
                <a:latin typeface="Inter SemiBold"/>
                <a:ea typeface="Inter SemiBold"/>
                <a:cs typeface="Inter SemiBold"/>
                <a:sym typeface="Inter SemiBold"/>
              </a:endParaRPr>
            </a:p>
          </p:txBody>
        </p:sp>
        <p:sp>
          <p:nvSpPr>
            <p:cNvPr id="154" name="Google Shape;154;p18"/>
            <p:cNvSpPr txBox="1"/>
            <p:nvPr/>
          </p:nvSpPr>
          <p:spPr>
            <a:xfrm>
              <a:off x="0" y="228600"/>
              <a:ext cx="3429000" cy="3248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600"/>
                </a:spcBef>
                <a:spcAft>
                  <a:spcPts val="0"/>
                </a:spcAft>
                <a:buClr>
                  <a:schemeClr val="dk1"/>
                </a:buClr>
                <a:buSzPts val="1100"/>
                <a:buFont typeface="Arial"/>
                <a:buNone/>
              </a:pPr>
              <a:r>
                <a:t/>
              </a:r>
              <a:endParaRPr b="1" sz="1200">
                <a:solidFill>
                  <a:srgbClr val="1F1F1F"/>
                </a:solidFill>
                <a:highlight>
                  <a:srgbClr val="FFFFFF"/>
                </a:highlight>
              </a:endParaRPr>
            </a:p>
            <a:p>
              <a:pPr indent="-304800" lvl="0" marL="457200" rtl="0" algn="l">
                <a:lnSpc>
                  <a:spcPct val="115000"/>
                </a:lnSpc>
                <a:spcBef>
                  <a:spcPts val="600"/>
                </a:spcBef>
                <a:spcAft>
                  <a:spcPts val="0"/>
                </a:spcAft>
                <a:buClr>
                  <a:srgbClr val="1F1F1F"/>
                </a:buClr>
                <a:buSzPts val="1200"/>
                <a:buChar char="●"/>
              </a:pPr>
              <a:r>
                <a:rPr lang="en" sz="1200">
                  <a:solidFill>
                    <a:srgbClr val="1F1F1F"/>
                  </a:solidFill>
                  <a:highlight>
                    <a:srgbClr val="FFFFFF"/>
                  </a:highlight>
                </a:rPr>
                <a:t>The blue line (Actual) and orange line (Predicted) for the chosen ATM show a </a:t>
              </a:r>
              <a:r>
                <a:rPr b="1" lang="en" sz="1200">
                  <a:solidFill>
                    <a:srgbClr val="1F1F1F"/>
                  </a:solidFill>
                  <a:highlight>
                    <a:srgbClr val="FFFFFF"/>
                  </a:highlight>
                </a:rPr>
                <a:t>remarkably close fit</a:t>
              </a:r>
              <a:r>
                <a:rPr lang="en" sz="1200">
                  <a:solidFill>
                    <a:srgbClr val="1F1F1F"/>
                  </a:solidFill>
                  <a:highlight>
                    <a:srgbClr val="FFFFFF"/>
                  </a:highlight>
                </a:rPr>
                <a:t>, even capturing daily fluctuations.</a:t>
              </a:r>
              <a:endParaRPr sz="1200">
                <a:solidFill>
                  <a:srgbClr val="1F1F1F"/>
                </a:solidFill>
                <a:highlight>
                  <a:srgbClr val="FFFFFF"/>
                </a:highlight>
              </a:endParaRPr>
            </a:p>
            <a:p>
              <a:pPr indent="-304800" lvl="0" marL="457200" rtl="0" algn="l">
                <a:lnSpc>
                  <a:spcPct val="115000"/>
                </a:lnSpc>
                <a:spcBef>
                  <a:spcPts val="0"/>
                </a:spcBef>
                <a:spcAft>
                  <a:spcPts val="0"/>
                </a:spcAft>
                <a:buClr>
                  <a:srgbClr val="1F1F1F"/>
                </a:buClr>
                <a:buSzPts val="1200"/>
                <a:buChar char="●"/>
              </a:pPr>
              <a:r>
                <a:rPr lang="en" sz="1200">
                  <a:solidFill>
                    <a:srgbClr val="1F1F1F"/>
                  </a:solidFill>
                  <a:highlight>
                    <a:srgbClr val="FFFFFF"/>
                  </a:highlight>
                </a:rPr>
                <a:t>This indicates the model's strong capability to learn and predict the unique dispense patterns of individual ATMs, rather than just overall trends.</a:t>
              </a:r>
              <a:endParaRPr sz="1200">
                <a:solidFill>
                  <a:srgbClr val="1F1F1F"/>
                </a:solidFill>
                <a:highlight>
                  <a:srgbClr val="FFFFFF"/>
                </a:highlight>
              </a:endParaRPr>
            </a:p>
            <a:p>
              <a:pPr indent="-304800" lvl="0" marL="457200" rtl="0" algn="l">
                <a:lnSpc>
                  <a:spcPct val="115000"/>
                </a:lnSpc>
                <a:spcBef>
                  <a:spcPts val="0"/>
                </a:spcBef>
                <a:spcAft>
                  <a:spcPts val="0"/>
                </a:spcAft>
                <a:buClr>
                  <a:srgbClr val="1F1F1F"/>
                </a:buClr>
                <a:buSzPts val="1200"/>
                <a:buChar char="●"/>
              </a:pPr>
              <a:r>
                <a:rPr lang="en" sz="1200">
                  <a:solidFill>
                    <a:srgbClr val="1F1F1F"/>
                  </a:solidFill>
                  <a:highlight>
                    <a:srgbClr val="FFFFFF"/>
                  </a:highlight>
                </a:rPr>
                <a:t>The visual alignment provides compelling evidence that the model is effective at a micro-level, which is crucial for precise cash management.</a:t>
              </a:r>
              <a:endParaRPr sz="1200">
                <a:solidFill>
                  <a:srgbClr val="0B192C"/>
                </a:solidFill>
                <a:latin typeface="Inter"/>
                <a:ea typeface="Inter"/>
                <a:cs typeface="Inter"/>
                <a:sym typeface="Inter"/>
              </a:endParaRPr>
            </a:p>
          </p:txBody>
        </p:sp>
      </p:grpSp>
      <p:pic>
        <p:nvPicPr>
          <p:cNvPr id="155" name="Google Shape;155;p18"/>
          <p:cNvPicPr preferRelativeResize="0"/>
          <p:nvPr/>
        </p:nvPicPr>
        <p:blipFill>
          <a:blip r:embed="rId3">
            <a:alphaModFix/>
          </a:blip>
          <a:stretch>
            <a:fillRect/>
          </a:stretch>
        </p:blipFill>
        <p:spPr>
          <a:xfrm>
            <a:off x="4896425" y="1024200"/>
            <a:ext cx="3945601" cy="3518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pSp>
        <p:nvGrpSpPr>
          <p:cNvPr id="160" name="Google Shape;160;p19"/>
          <p:cNvGrpSpPr/>
          <p:nvPr/>
        </p:nvGrpSpPr>
        <p:grpSpPr>
          <a:xfrm>
            <a:off x="0" y="0"/>
            <a:ext cx="9144000" cy="5143500"/>
            <a:chOff x="0" y="0"/>
            <a:chExt cx="9144000" cy="5143500"/>
          </a:xfrm>
        </p:grpSpPr>
        <p:sp>
          <p:nvSpPr>
            <p:cNvPr id="161" name="Google Shape;161;p19"/>
            <p:cNvSpPr/>
            <p:nvPr/>
          </p:nvSpPr>
          <p:spPr>
            <a:xfrm>
              <a:off x="0" y="0"/>
              <a:ext cx="4572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9"/>
            <p:cNvSpPr/>
            <p:nvPr/>
          </p:nvSpPr>
          <p:spPr>
            <a:xfrm>
              <a:off x="4572000" y="0"/>
              <a:ext cx="4572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3" name="Google Shape;163;p19"/>
            <p:cNvGrpSpPr/>
            <p:nvPr/>
          </p:nvGrpSpPr>
          <p:grpSpPr>
            <a:xfrm>
              <a:off x="457200" y="457200"/>
              <a:ext cx="304800" cy="228600"/>
              <a:chOff x="0" y="0"/>
              <a:chExt cx="304800" cy="228600"/>
            </a:xfrm>
          </p:grpSpPr>
          <p:sp>
            <p:nvSpPr>
              <p:cNvPr id="164" name="Google Shape;164;p19"/>
              <p:cNvSpPr/>
              <p:nvPr/>
            </p:nvSpPr>
            <p:spPr>
              <a:xfrm>
                <a:off x="0" y="76200"/>
                <a:ext cx="76200" cy="152400"/>
              </a:xfrm>
              <a:prstGeom prst="rect">
                <a:avLst/>
              </a:pr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9"/>
              <p:cNvSpPr/>
              <p:nvPr/>
            </p:nvSpPr>
            <p:spPr>
              <a:xfrm>
                <a:off x="114300" y="0"/>
                <a:ext cx="76200" cy="228600"/>
              </a:xfrm>
              <a:prstGeom prst="rect">
                <a:avLst/>
              </a:pr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9"/>
              <p:cNvSpPr/>
              <p:nvPr/>
            </p:nvSpPr>
            <p:spPr>
              <a:xfrm>
                <a:off x="228600" y="114300"/>
                <a:ext cx="76200" cy="1143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9"/>
              <p:cNvSpPr/>
              <p:nvPr/>
            </p:nvSpPr>
            <p:spPr>
              <a:xfrm>
                <a:off x="228600" y="0"/>
                <a:ext cx="76200" cy="76200"/>
              </a:xfrm>
              <a:prstGeom prst="ellipse">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168" name="Google Shape;168;p19"/>
          <p:cNvGrpSpPr/>
          <p:nvPr/>
        </p:nvGrpSpPr>
        <p:grpSpPr>
          <a:xfrm>
            <a:off x="898425" y="387650"/>
            <a:ext cx="3915608" cy="548177"/>
            <a:chOff x="0" y="-374346"/>
            <a:chExt cx="8811000" cy="1031571"/>
          </a:xfrm>
        </p:grpSpPr>
        <p:sp>
          <p:nvSpPr>
            <p:cNvPr id="169" name="Google Shape;169;p19"/>
            <p:cNvSpPr txBox="1"/>
            <p:nvPr/>
          </p:nvSpPr>
          <p:spPr>
            <a:xfrm>
              <a:off x="0" y="-374346"/>
              <a:ext cx="8811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solidFill>
                    <a:srgbClr val="0B192C"/>
                  </a:solidFill>
                  <a:latin typeface="Inter"/>
                  <a:ea typeface="Inter"/>
                  <a:cs typeface="Inter"/>
                  <a:sym typeface="Inter"/>
                </a:rPr>
                <a:t>Feature Importance</a:t>
              </a:r>
              <a:endParaRPr b="1" sz="2700">
                <a:solidFill>
                  <a:srgbClr val="0B192C"/>
                </a:solidFill>
                <a:latin typeface="Inter"/>
                <a:ea typeface="Inter"/>
                <a:cs typeface="Inter"/>
                <a:sym typeface="Inter"/>
              </a:endParaRPr>
            </a:p>
          </p:txBody>
        </p:sp>
        <p:grpSp>
          <p:nvGrpSpPr>
            <p:cNvPr id="170" name="Google Shape;170;p19"/>
            <p:cNvGrpSpPr/>
            <p:nvPr/>
          </p:nvGrpSpPr>
          <p:grpSpPr>
            <a:xfrm>
              <a:off x="0" y="619125"/>
              <a:ext cx="8229600" cy="38100"/>
              <a:chOff x="0" y="0"/>
              <a:chExt cx="8229600" cy="38100"/>
            </a:xfrm>
          </p:grpSpPr>
          <p:sp>
            <p:nvSpPr>
              <p:cNvPr id="171" name="Google Shape;171;p19"/>
              <p:cNvSpPr/>
              <p:nvPr/>
            </p:nvSpPr>
            <p:spPr>
              <a:xfrm>
                <a:off x="0" y="0"/>
                <a:ext cx="571500" cy="381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9"/>
              <p:cNvSpPr/>
              <p:nvPr/>
            </p:nvSpPr>
            <p:spPr>
              <a:xfrm>
                <a:off x="571500" y="14288"/>
                <a:ext cx="76581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173" name="Google Shape;173;p19"/>
          <p:cNvSpPr txBox="1"/>
          <p:nvPr/>
        </p:nvSpPr>
        <p:spPr>
          <a:xfrm>
            <a:off x="457200" y="1227850"/>
            <a:ext cx="3657600" cy="3486900"/>
          </a:xfrm>
          <a:prstGeom prst="rect">
            <a:avLst/>
          </a:prstGeom>
          <a:noFill/>
          <a:ln>
            <a:noFill/>
          </a:ln>
        </p:spPr>
        <p:txBody>
          <a:bodyPr anchorCtr="0" anchor="t" bIns="0" lIns="95250" spcFirstLastPara="1" rIns="0" wrap="square" tIns="0">
            <a:noAutofit/>
          </a:bodyPr>
          <a:lstStyle/>
          <a:p>
            <a:pPr indent="0" lvl="0" marL="0" rtl="0" algn="l">
              <a:spcBef>
                <a:spcPts val="1200"/>
              </a:spcBef>
              <a:spcAft>
                <a:spcPts val="0"/>
              </a:spcAft>
              <a:buNone/>
            </a:pPr>
            <a:r>
              <a:rPr b="1" lang="en" sz="1200">
                <a:solidFill>
                  <a:srgbClr val="1E3E62"/>
                </a:solidFill>
                <a:latin typeface="Inter"/>
                <a:ea typeface="Inter"/>
                <a:cs typeface="Inter"/>
                <a:sym typeface="Inter"/>
              </a:rPr>
              <a:t>Key Drivers of ATM Dispense Forecasts</a:t>
            </a:r>
            <a:endParaRPr b="1" sz="1200">
              <a:solidFill>
                <a:srgbClr val="1E3E62"/>
              </a:solidFill>
              <a:latin typeface="Inter"/>
              <a:ea typeface="Inter"/>
              <a:cs typeface="Inter"/>
              <a:sym typeface="Inter"/>
            </a:endParaRPr>
          </a:p>
          <a:p>
            <a:pPr indent="-304800" lvl="0" marL="457200" rtl="0" algn="l">
              <a:spcBef>
                <a:spcPts val="1200"/>
              </a:spcBef>
              <a:spcAft>
                <a:spcPts val="0"/>
              </a:spcAft>
              <a:buClr>
                <a:srgbClr val="1E3E62"/>
              </a:buClr>
              <a:buSzPts val="1200"/>
              <a:buFont typeface="Inter"/>
              <a:buChar char="●"/>
            </a:pPr>
            <a:r>
              <a:rPr lang="en" sz="1200">
                <a:solidFill>
                  <a:srgbClr val="1E3E62"/>
                </a:solidFill>
                <a:latin typeface="Inter"/>
                <a:ea typeface="Inter"/>
                <a:cs typeface="Inter"/>
                <a:sym typeface="Inter"/>
              </a:rPr>
              <a:t>CapacityUtilization: Ratio of Dispense to MaxCapacity; signals demand relative to replenishment needs.</a:t>
            </a:r>
            <a:endParaRPr sz="1200">
              <a:solidFill>
                <a:srgbClr val="1E3E62"/>
              </a:solidFill>
              <a:latin typeface="Inter"/>
              <a:ea typeface="Inter"/>
              <a:cs typeface="Inter"/>
              <a:sym typeface="Inter"/>
            </a:endParaRPr>
          </a:p>
          <a:p>
            <a:pPr indent="-304800" lvl="0" marL="457200" rtl="0" algn="l">
              <a:spcBef>
                <a:spcPts val="0"/>
              </a:spcBef>
              <a:spcAft>
                <a:spcPts val="0"/>
              </a:spcAft>
              <a:buClr>
                <a:srgbClr val="1E3E62"/>
              </a:buClr>
              <a:buSzPts val="1200"/>
              <a:buFont typeface="Inter"/>
              <a:buChar char="●"/>
            </a:pPr>
            <a:r>
              <a:rPr lang="en" sz="1200">
                <a:solidFill>
                  <a:srgbClr val="1E3E62"/>
                </a:solidFill>
                <a:latin typeface="Inter"/>
                <a:ea typeface="Inter"/>
                <a:cs typeface="Inter"/>
                <a:sym typeface="Inter"/>
              </a:rPr>
              <a:t>MaxCapacity: Defines operational limits and potential dispense ceiling.</a:t>
            </a:r>
            <a:endParaRPr sz="1200">
              <a:solidFill>
                <a:srgbClr val="1E3E62"/>
              </a:solidFill>
              <a:latin typeface="Inter"/>
              <a:ea typeface="Inter"/>
              <a:cs typeface="Inter"/>
              <a:sym typeface="Inter"/>
            </a:endParaRPr>
          </a:p>
          <a:p>
            <a:pPr indent="-304800" lvl="0" marL="457200" rtl="0" algn="l">
              <a:spcBef>
                <a:spcPts val="0"/>
              </a:spcBef>
              <a:spcAft>
                <a:spcPts val="0"/>
              </a:spcAft>
              <a:buClr>
                <a:srgbClr val="1E3E62"/>
              </a:buClr>
              <a:buSzPts val="1200"/>
              <a:buFont typeface="Inter"/>
              <a:buChar char="●"/>
            </a:pPr>
            <a:r>
              <a:rPr lang="en" sz="1200">
                <a:solidFill>
                  <a:srgbClr val="1E3E62"/>
                </a:solidFill>
                <a:latin typeface="Inter"/>
                <a:ea typeface="Inter"/>
                <a:cs typeface="Inter"/>
                <a:sym typeface="Inter"/>
              </a:rPr>
              <a:t>Account &amp; ATMID: Incorporates context (location, demographics, bank policies, traffic).</a:t>
            </a:r>
            <a:endParaRPr sz="1200">
              <a:solidFill>
                <a:srgbClr val="1E3E62"/>
              </a:solidFill>
              <a:latin typeface="Inter"/>
              <a:ea typeface="Inter"/>
              <a:cs typeface="Inter"/>
              <a:sym typeface="Inter"/>
            </a:endParaRPr>
          </a:p>
          <a:p>
            <a:pPr indent="-304800" lvl="0" marL="457200" rtl="0" algn="l">
              <a:spcBef>
                <a:spcPts val="0"/>
              </a:spcBef>
              <a:spcAft>
                <a:spcPts val="0"/>
              </a:spcAft>
              <a:buClr>
                <a:srgbClr val="1E3E62"/>
              </a:buClr>
              <a:buSzPts val="1200"/>
              <a:buFont typeface="Inter"/>
              <a:buChar char="●"/>
            </a:pPr>
            <a:r>
              <a:rPr lang="en" sz="1200">
                <a:solidFill>
                  <a:srgbClr val="1E3E62"/>
                </a:solidFill>
                <a:latin typeface="Inter"/>
                <a:ea typeface="Inter"/>
                <a:cs typeface="Inter"/>
                <a:sym typeface="Inter"/>
              </a:rPr>
              <a:t>CountTotalTxn: Key volume metric correlating with total cash dispensed.</a:t>
            </a:r>
            <a:endParaRPr sz="1200">
              <a:solidFill>
                <a:srgbClr val="1E3E62"/>
              </a:solidFill>
              <a:latin typeface="Inter"/>
              <a:ea typeface="Inter"/>
              <a:cs typeface="Inter"/>
              <a:sym typeface="Inter"/>
            </a:endParaRPr>
          </a:p>
          <a:p>
            <a:pPr indent="-304800" lvl="0" marL="457200" rtl="0" algn="l">
              <a:spcBef>
                <a:spcPts val="0"/>
              </a:spcBef>
              <a:spcAft>
                <a:spcPts val="0"/>
              </a:spcAft>
              <a:buClr>
                <a:srgbClr val="1E3E62"/>
              </a:buClr>
              <a:buSzPts val="1200"/>
              <a:buFont typeface="Inter"/>
              <a:buChar char="●"/>
            </a:pPr>
            <a:r>
              <a:rPr lang="en" sz="1200">
                <a:solidFill>
                  <a:srgbClr val="1E3E62"/>
                </a:solidFill>
                <a:latin typeface="Inter"/>
                <a:ea typeface="Inter"/>
                <a:cs typeface="Inter"/>
                <a:sym typeface="Inter"/>
              </a:rPr>
              <a:t>Lagged Dispense (Lag_1, 7, 21): Captures daily autocorrelation and multi-weekly seasonality.</a:t>
            </a:r>
            <a:endParaRPr sz="1200">
              <a:solidFill>
                <a:srgbClr val="1E3E62"/>
              </a:solidFill>
              <a:latin typeface="Inter"/>
              <a:ea typeface="Inter"/>
              <a:cs typeface="Inter"/>
              <a:sym typeface="Inter"/>
            </a:endParaRPr>
          </a:p>
          <a:p>
            <a:pPr indent="0" lvl="0" marL="0" rtl="0" algn="l">
              <a:spcBef>
                <a:spcPts val="1200"/>
              </a:spcBef>
              <a:spcAft>
                <a:spcPts val="0"/>
              </a:spcAft>
              <a:buNone/>
            </a:pPr>
            <a:r>
              <a:rPr b="1" lang="en" sz="1200">
                <a:solidFill>
                  <a:srgbClr val="1E3E62"/>
                </a:solidFill>
                <a:latin typeface="Inter"/>
                <a:ea typeface="Inter"/>
                <a:cs typeface="Inter"/>
                <a:sym typeface="Inter"/>
              </a:rPr>
              <a:t>Impact: </a:t>
            </a:r>
            <a:r>
              <a:rPr lang="en" sz="1200">
                <a:solidFill>
                  <a:srgbClr val="1E3E62"/>
                </a:solidFill>
                <a:latin typeface="Inter"/>
                <a:ea typeface="Inter"/>
                <a:cs typeface="Inter"/>
                <a:sym typeface="Inter"/>
              </a:rPr>
              <a:t>These features optimize cash management, reducing 'Cash Out' risks and minimizing idle cash penalties.</a:t>
            </a:r>
            <a:endParaRPr sz="1200">
              <a:solidFill>
                <a:srgbClr val="1E3E62"/>
              </a:solidFill>
              <a:latin typeface="Inter"/>
              <a:ea typeface="Inter"/>
              <a:cs typeface="Inter"/>
              <a:sym typeface="Inter"/>
            </a:endParaRPr>
          </a:p>
        </p:txBody>
      </p:sp>
      <p:pic>
        <p:nvPicPr>
          <p:cNvPr id="174" name="Google Shape;174;p19"/>
          <p:cNvPicPr preferRelativeResize="0"/>
          <p:nvPr/>
        </p:nvPicPr>
        <p:blipFill>
          <a:blip r:embed="rId3">
            <a:alphaModFix/>
          </a:blip>
          <a:stretch>
            <a:fillRect/>
          </a:stretch>
        </p:blipFill>
        <p:spPr>
          <a:xfrm>
            <a:off x="4814100" y="1093100"/>
            <a:ext cx="4036149" cy="34065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p:nvPr/>
        </p:nvSpPr>
        <p:spPr>
          <a:xfrm>
            <a:off x="0" y="17220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0" name="Google Shape;180;p20"/>
          <p:cNvGrpSpPr/>
          <p:nvPr/>
        </p:nvGrpSpPr>
        <p:grpSpPr>
          <a:xfrm>
            <a:off x="8382000" y="457200"/>
            <a:ext cx="304800" cy="228600"/>
            <a:chOff x="0" y="0"/>
            <a:chExt cx="304800" cy="228600"/>
          </a:xfrm>
        </p:grpSpPr>
        <p:sp>
          <p:nvSpPr>
            <p:cNvPr id="181" name="Google Shape;181;p20"/>
            <p:cNvSpPr/>
            <p:nvPr/>
          </p:nvSpPr>
          <p:spPr>
            <a:xfrm>
              <a:off x="0" y="76200"/>
              <a:ext cx="76200" cy="152400"/>
            </a:xfrm>
            <a:prstGeom prst="rect">
              <a:avLst/>
            </a:prstGeom>
            <a:solidFill>
              <a:srgbClr val="0B192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0"/>
            <p:cNvSpPr/>
            <p:nvPr/>
          </p:nvSpPr>
          <p:spPr>
            <a:xfrm>
              <a:off x="114300" y="0"/>
              <a:ext cx="76200" cy="228600"/>
            </a:xfrm>
            <a:prstGeom prst="rect">
              <a:avLst/>
            </a:prstGeom>
            <a:solidFill>
              <a:srgbClr val="1E3E6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20"/>
            <p:cNvSpPr/>
            <p:nvPr/>
          </p:nvSpPr>
          <p:spPr>
            <a:xfrm>
              <a:off x="228600" y="114300"/>
              <a:ext cx="76200" cy="1143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20"/>
            <p:cNvSpPr/>
            <p:nvPr/>
          </p:nvSpPr>
          <p:spPr>
            <a:xfrm>
              <a:off x="228600" y="0"/>
              <a:ext cx="76200" cy="76200"/>
            </a:xfrm>
            <a:prstGeom prst="ellipse">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85" name="Google Shape;185;p20"/>
          <p:cNvGrpSpPr/>
          <p:nvPr/>
        </p:nvGrpSpPr>
        <p:grpSpPr>
          <a:xfrm>
            <a:off x="457200" y="255025"/>
            <a:ext cx="8229600" cy="845578"/>
            <a:chOff x="0" y="-193186"/>
            <a:chExt cx="8229600" cy="1183786"/>
          </a:xfrm>
        </p:grpSpPr>
        <p:sp>
          <p:nvSpPr>
            <p:cNvPr id="186" name="Google Shape;186;p20"/>
            <p:cNvSpPr txBox="1"/>
            <p:nvPr/>
          </p:nvSpPr>
          <p:spPr>
            <a:xfrm>
              <a:off x="0" y="-193186"/>
              <a:ext cx="7620000" cy="105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700">
                  <a:solidFill>
                    <a:srgbClr val="0B192C"/>
                  </a:solidFill>
                  <a:latin typeface="Inter"/>
                  <a:ea typeface="Inter"/>
                  <a:cs typeface="Inter"/>
                  <a:sym typeface="Inter"/>
                </a:rPr>
                <a:t>ATM Dispense Forecasting: Model Performance &amp; Evaluation</a:t>
              </a:r>
              <a:endParaRPr b="1" sz="2700">
                <a:solidFill>
                  <a:srgbClr val="0B192C"/>
                </a:solidFill>
                <a:latin typeface="Inter"/>
                <a:ea typeface="Inter"/>
                <a:cs typeface="Inter"/>
                <a:sym typeface="Inter"/>
              </a:endParaRPr>
            </a:p>
          </p:txBody>
        </p:sp>
        <p:grpSp>
          <p:nvGrpSpPr>
            <p:cNvPr id="187" name="Google Shape;187;p20"/>
            <p:cNvGrpSpPr/>
            <p:nvPr/>
          </p:nvGrpSpPr>
          <p:grpSpPr>
            <a:xfrm>
              <a:off x="0" y="952500"/>
              <a:ext cx="8229600" cy="38100"/>
              <a:chOff x="0" y="0"/>
              <a:chExt cx="8229600" cy="38100"/>
            </a:xfrm>
          </p:grpSpPr>
          <p:sp>
            <p:nvSpPr>
              <p:cNvPr id="188" name="Google Shape;188;p20"/>
              <p:cNvSpPr/>
              <p:nvPr/>
            </p:nvSpPr>
            <p:spPr>
              <a:xfrm>
                <a:off x="0" y="0"/>
                <a:ext cx="571500" cy="381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p:nvPr/>
            </p:nvSpPr>
            <p:spPr>
              <a:xfrm>
                <a:off x="571500" y="14288"/>
                <a:ext cx="76581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sp>
        <p:nvSpPr>
          <p:cNvPr id="190" name="Google Shape;190;p20"/>
          <p:cNvSpPr txBox="1"/>
          <p:nvPr/>
        </p:nvSpPr>
        <p:spPr>
          <a:xfrm>
            <a:off x="457200" y="1419825"/>
            <a:ext cx="7778400" cy="21117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0B192C"/>
              </a:buClr>
              <a:buSzPts val="1200"/>
              <a:buFont typeface="Inter"/>
              <a:buChar char="●"/>
            </a:pPr>
            <a:r>
              <a:rPr b="1" lang="en" sz="1200">
                <a:solidFill>
                  <a:srgbClr val="0B192C"/>
                </a:solidFill>
                <a:latin typeface="Inter"/>
                <a:ea typeface="Inter"/>
                <a:cs typeface="Inter"/>
                <a:sym typeface="Inter"/>
              </a:rPr>
              <a:t>Model Effectiveness:</a:t>
            </a:r>
            <a:r>
              <a:rPr lang="en" sz="1200">
                <a:solidFill>
                  <a:srgbClr val="0B192C"/>
                </a:solidFill>
                <a:latin typeface="Inter"/>
                <a:ea typeface="Inter"/>
                <a:cs typeface="Inter"/>
                <a:sym typeface="Inter"/>
              </a:rPr>
              <a:t> The XGBoost Regressor significantly outperforms the Lag_1 baseline (MAE ~$1,018 vs. ~$140,623). By utilizing drivers such as CapacityUtilization, MaxCapacity, ATMID, and transaction data, it enables precise, ATM-level cash management.</a:t>
            </a:r>
            <a:endParaRPr sz="1200">
              <a:solidFill>
                <a:srgbClr val="0B192C"/>
              </a:solidFill>
              <a:latin typeface="Inter"/>
              <a:ea typeface="Inter"/>
              <a:cs typeface="Inter"/>
              <a:sym typeface="Inter"/>
            </a:endParaRPr>
          </a:p>
          <a:p>
            <a:pPr indent="0" lvl="0" marL="457200" rtl="0" algn="l">
              <a:spcBef>
                <a:spcPts val="0"/>
              </a:spcBef>
              <a:spcAft>
                <a:spcPts val="0"/>
              </a:spcAft>
              <a:buNone/>
            </a:pPr>
            <a:r>
              <a:t/>
            </a:r>
            <a:endParaRPr sz="1200">
              <a:solidFill>
                <a:srgbClr val="0B192C"/>
              </a:solidFill>
              <a:latin typeface="Inter"/>
              <a:ea typeface="Inter"/>
              <a:cs typeface="Inter"/>
              <a:sym typeface="Inter"/>
            </a:endParaRPr>
          </a:p>
          <a:p>
            <a:pPr indent="-304800" lvl="0" marL="457200" rtl="0" algn="l">
              <a:spcBef>
                <a:spcPts val="0"/>
              </a:spcBef>
              <a:spcAft>
                <a:spcPts val="0"/>
              </a:spcAft>
              <a:buClr>
                <a:srgbClr val="0B192C"/>
              </a:buClr>
              <a:buSzPts val="1200"/>
              <a:buFont typeface="Inter"/>
              <a:buChar char="●"/>
            </a:pPr>
            <a:r>
              <a:rPr b="1" lang="en" sz="1200">
                <a:solidFill>
                  <a:srgbClr val="0B192C"/>
                </a:solidFill>
                <a:latin typeface="Inter"/>
                <a:ea typeface="Inter"/>
                <a:cs typeface="Inter"/>
                <a:sym typeface="Inter"/>
              </a:rPr>
              <a:t>Operational Recommendations:</a:t>
            </a:r>
            <a:r>
              <a:rPr lang="en" sz="1200">
                <a:solidFill>
                  <a:srgbClr val="0B192C"/>
                </a:solidFill>
                <a:latin typeface="Inter"/>
                <a:ea typeface="Inter"/>
                <a:cs typeface="Inter"/>
                <a:sym typeface="Inter"/>
              </a:rPr>
              <a:t> Integrate forecasts into daily workflows, optimize replenishment to minimize ‘Cash Out’ and idle cash, monitor key performance drivers, retrain models regularly, and apply location-specific strategies.</a:t>
            </a:r>
            <a:endParaRPr sz="1200">
              <a:solidFill>
                <a:srgbClr val="0B192C"/>
              </a:solidFill>
              <a:latin typeface="Inter"/>
              <a:ea typeface="Inter"/>
              <a:cs typeface="Inter"/>
              <a:sym typeface="Inter"/>
            </a:endParaRPr>
          </a:p>
          <a:p>
            <a:pPr indent="0" lvl="0" marL="457200" rtl="0" algn="l">
              <a:spcBef>
                <a:spcPts val="0"/>
              </a:spcBef>
              <a:spcAft>
                <a:spcPts val="0"/>
              </a:spcAft>
              <a:buNone/>
            </a:pPr>
            <a:r>
              <a:t/>
            </a:r>
            <a:endParaRPr sz="1200">
              <a:solidFill>
                <a:srgbClr val="0B192C"/>
              </a:solidFill>
              <a:latin typeface="Inter"/>
              <a:ea typeface="Inter"/>
              <a:cs typeface="Inter"/>
              <a:sym typeface="Inter"/>
            </a:endParaRPr>
          </a:p>
          <a:p>
            <a:pPr indent="-304800" lvl="0" marL="457200" rtl="0" algn="l">
              <a:spcBef>
                <a:spcPts val="0"/>
              </a:spcBef>
              <a:spcAft>
                <a:spcPts val="0"/>
              </a:spcAft>
              <a:buClr>
                <a:srgbClr val="0B192C"/>
              </a:buClr>
              <a:buSzPts val="1200"/>
              <a:buFont typeface="Inter"/>
              <a:buChar char="●"/>
            </a:pPr>
            <a:r>
              <a:rPr b="1" lang="en" sz="1200">
                <a:solidFill>
                  <a:srgbClr val="0B192C"/>
                </a:solidFill>
                <a:latin typeface="Inter"/>
                <a:ea typeface="Inter"/>
                <a:cs typeface="Inter"/>
                <a:sym typeface="Inter"/>
              </a:rPr>
              <a:t>Key Assumptions:</a:t>
            </a:r>
            <a:r>
              <a:rPr lang="en" sz="1200">
                <a:solidFill>
                  <a:srgbClr val="0B192C"/>
                </a:solidFill>
                <a:latin typeface="Inter"/>
                <a:ea typeface="Inter"/>
                <a:cs typeface="Inter"/>
                <a:sym typeface="Inter"/>
              </a:rPr>
              <a:t> Success assumes data integrity, pattern persistence, reliable future feature availability, operational stability, and the potential to enhance the model by capturing unmodeled external factors.</a:t>
            </a:r>
            <a:endParaRPr sz="1200">
              <a:solidFill>
                <a:srgbClr val="0B192C"/>
              </a:solidFill>
              <a:latin typeface="Inter"/>
              <a:ea typeface="Inter"/>
              <a:cs typeface="Inter"/>
              <a:sym typeface="Inter"/>
            </a:endParaRPr>
          </a:p>
        </p:txBody>
      </p:sp>
      <p:grpSp>
        <p:nvGrpSpPr>
          <p:cNvPr id="191" name="Google Shape;191;p20"/>
          <p:cNvGrpSpPr/>
          <p:nvPr/>
        </p:nvGrpSpPr>
        <p:grpSpPr>
          <a:xfrm>
            <a:off x="457200" y="3840775"/>
            <a:ext cx="8229600" cy="1250328"/>
            <a:chOff x="0" y="0"/>
            <a:chExt cx="8229600" cy="1143000"/>
          </a:xfrm>
        </p:grpSpPr>
        <p:sp>
          <p:nvSpPr>
            <p:cNvPr id="192" name="Google Shape;192;p20"/>
            <p:cNvSpPr/>
            <p:nvPr/>
          </p:nvSpPr>
          <p:spPr>
            <a:xfrm>
              <a:off x="0" y="0"/>
              <a:ext cx="8229600" cy="1143000"/>
            </a:xfrm>
            <a:prstGeom prst="roundRect">
              <a:avLst>
                <a:gd fmla="val 3333" name="adj"/>
              </a:avLst>
            </a:prstGeom>
            <a:solidFill>
              <a:srgbClr val="F4F7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p:nvPr/>
          </p:nvSpPr>
          <p:spPr>
            <a:xfrm>
              <a:off x="0" y="0"/>
              <a:ext cx="76200" cy="1143000"/>
            </a:xfrm>
            <a:prstGeom prst="rect">
              <a:avLst/>
            </a:prstGeom>
            <a:solidFill>
              <a:srgbClr val="FF65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20"/>
            <p:cNvSpPr txBox="1"/>
            <p:nvPr/>
          </p:nvSpPr>
          <p:spPr>
            <a:xfrm>
              <a:off x="276525" y="149672"/>
              <a:ext cx="7741500" cy="837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1350">
                  <a:solidFill>
                    <a:srgbClr val="1E3E62"/>
                  </a:solidFill>
                  <a:latin typeface="Inter Medium"/>
                  <a:ea typeface="Inter Medium"/>
                  <a:cs typeface="Inter Medium"/>
                  <a:sym typeface="Inter Medium"/>
                </a:rPr>
                <a:t>"</a:t>
              </a:r>
              <a:r>
                <a:rPr i="1" lang="en" sz="1350">
                  <a:solidFill>
                    <a:srgbClr val="1E3E62"/>
                  </a:solidFill>
                  <a:latin typeface="Inter Medium"/>
                  <a:ea typeface="Inter Medium"/>
                  <a:cs typeface="Inter Medium"/>
                  <a:sym typeface="Inter Medium"/>
                </a:rPr>
                <a:t>The proposed XGBoost forecasting framework demonstrates strong predictive capability and provides a practical, scalable solution for improving ATM cash management and supporting operational decision-making.</a:t>
              </a:r>
              <a:r>
                <a:rPr b="0" i="1" lang="en" sz="1350">
                  <a:solidFill>
                    <a:srgbClr val="1E3E62"/>
                  </a:solidFill>
                  <a:latin typeface="Inter Medium"/>
                  <a:ea typeface="Inter Medium"/>
                  <a:cs typeface="Inter Medium"/>
                  <a:sym typeface="Inter Medium"/>
                </a:rPr>
                <a:t>"</a:t>
              </a:r>
              <a:endParaRPr b="0" i="1" sz="1350">
                <a:solidFill>
                  <a:srgbClr val="1E3E62"/>
                </a:solidFill>
                <a:latin typeface="Inter Medium"/>
                <a:ea typeface="Inter Medium"/>
                <a:cs typeface="Inter Medium"/>
                <a:sym typeface="Inter Medium"/>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